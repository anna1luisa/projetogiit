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75366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67953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VARIÁVEIS E TIPAGEM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385763" y="1053703"/>
            <a:ext cx="451563" cy="221456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7" name="Text 4"/>
          <p:cNvSpPr/>
          <p:nvPr/>
        </p:nvSpPr>
        <p:spPr>
          <a:xfrm>
            <a:off x="385763" y="1053703"/>
            <a:ext cx="451563" cy="221456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5763" y="1475184"/>
            <a:ext cx="38147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mutáveis que podem ser reatribuídos durante a execução.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5763" y="1882378"/>
            <a:ext cx="657337" cy="221456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0" name="Text 7"/>
          <p:cNvSpPr/>
          <p:nvPr/>
        </p:nvSpPr>
        <p:spPr>
          <a:xfrm>
            <a:off x="385763" y="1882378"/>
            <a:ext cx="657337" cy="221456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5763" y="2303859"/>
            <a:ext cx="3814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constantes que permanecem imutáveis após a primeira atribuição.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2925" y="3246834"/>
            <a:ext cx="350043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atribuição (=) no JavaScript armazena um valor na memória associado a um identificador."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929188" y="1219684"/>
            <a:ext cx="38290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Primitivos: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29188" y="1767855"/>
            <a:ext cx="3829050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Number (Inteiros e Reais)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29188" y="2017886"/>
            <a:ext cx="3829050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String (Textos/Cadeias)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29188" y="2267917"/>
            <a:ext cx="3829050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Boolean (True ou False)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29188" y="2517949"/>
            <a:ext cx="3829050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null &amp; undefined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29188" y="3053730"/>
            <a:ext cx="38290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Dica: Use </a:t>
            </a:r>
            <a:r>
              <a:rPr lang="en-US" sz="800" b="1" dirty="0">
                <a:solidFill>
                  <a:srgbClr val="99999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camelCase</a:t>
            </a: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nomes de variáveis claros e semânticos.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 E SAÍDA DE DADOS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1340402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1340402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325166"/>
            <a:ext cx="39576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Exibe informações no console do desenvolvedor (F12).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648030"/>
            <a:ext cx="868803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0" name="Text 7"/>
          <p:cNvSpPr/>
          <p:nvPr/>
        </p:nvSpPr>
        <p:spPr>
          <a:xfrm>
            <a:off x="314325" y="1648030"/>
            <a:ext cx="868803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prompt()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4325" y="2055223"/>
            <a:ext cx="39576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entrada do usuário como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String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4325" y="2378087"/>
            <a:ext cx="774539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3" name="Text 10"/>
          <p:cNvSpPr/>
          <p:nvPr/>
        </p:nvSpPr>
        <p:spPr>
          <a:xfrm>
            <a:off x="314325" y="2378087"/>
            <a:ext cx="774539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alert()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4325" y="2785281"/>
            <a:ext cx="395763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Exibe uma caixa de diálogo rápida na tela.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57750" y="1060847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Interação: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857750" y="1328738"/>
            <a:ext cx="3971925" cy="1128545"/>
          </a:xfrm>
          <a:prstGeom prst="rect">
            <a:avLst/>
          </a:prstGeom>
          <a:solidFill>
            <a:srgbClr val="1E1E1E"/>
          </a:solidFill>
          <a:ln w="9144">
            <a:solidFill>
              <a:srgbClr val="00D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57750" y="1328738"/>
            <a:ext cx="3971925" cy="112854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= prompt(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"Qual seu nome?"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idade = Number(prompt(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"Idade?"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console.log(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 ${nome}, você tem ${idade}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anos.`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57750" y="2921626"/>
            <a:ext cx="39719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Template Strings: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crases (``) para interpolar variáveis com facilidade e 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clareza.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CONDICIONAIS COMPLETAS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1246082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1246082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/ else if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325166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testar múltiplas condições em sequência até que uma seja verdadeira.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828019"/>
            <a:ext cx="491579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0" name="Text 7"/>
          <p:cNvSpPr/>
          <p:nvPr/>
        </p:nvSpPr>
        <p:spPr>
          <a:xfrm>
            <a:off x="314325" y="1828019"/>
            <a:ext cx="491579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4325" y="2235212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bloco final que executa se nenhuma das condições anteriores for atendida.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4325" y="3088109"/>
            <a:ext cx="39576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Operadores Lógicos: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14325" y="3366715"/>
            <a:ext cx="395763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(E) | </a:t>
            </a:r>
            <a:r>
              <a:rPr lang="en-US" sz="8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(OU) | </a:t>
            </a:r>
            <a:r>
              <a:rPr lang="en-US" sz="8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(NÃO)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857750" y="917972"/>
            <a:ext cx="3971925" cy="1488523"/>
          </a:xfrm>
          <a:prstGeom prst="rect">
            <a:avLst/>
          </a:prstGeom>
          <a:solidFill>
            <a:srgbClr val="1E1E1E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57750" y="917972"/>
            <a:ext cx="3971925" cy="148852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9) {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 =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(nota &gt;= 7) {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 =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conceito =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57750" y="2606520"/>
            <a:ext cx="397192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Dica: Mantenha as condições claras e evite aninhamentos excessivos (nesting).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REPETIÇÃO: WHILE E DO WHILE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657337" cy="221456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657337" cy="221456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4325" y="1375172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 a condição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antes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executar o bloco. Se for falsa de início, o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nunca roda.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878025"/>
            <a:ext cx="3957638" cy="768567"/>
          </a:xfrm>
          <a:prstGeom prst="rect">
            <a:avLst/>
          </a:prstGeom>
          <a:solidFill>
            <a:srgbClr val="1E1E1E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4325" y="1878025"/>
            <a:ext cx="3957638" cy="76856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(condicao) {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 enquanto verdadeiro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57750" y="917972"/>
            <a:ext cx="965969" cy="221456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2" name="Text 9"/>
          <p:cNvSpPr/>
          <p:nvPr/>
        </p:nvSpPr>
        <p:spPr>
          <a:xfrm>
            <a:off x="4857750" y="917972"/>
            <a:ext cx="965969" cy="221456"/>
          </a:xfrm>
          <a:prstGeom prst="rect">
            <a:avLst/>
          </a:prstGeom>
          <a:noFill/>
          <a:ln/>
        </p:spPr>
        <p:txBody>
          <a:bodyPr wrap="none" lIns="85090" tIns="17018" rIns="85090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while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57750" y="1375172"/>
            <a:ext cx="39719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 o bloco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pelo menos uma vez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só depois testa a condição 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repetir.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857750" y="1878025"/>
            <a:ext cx="3971925" cy="768567"/>
          </a:xfrm>
          <a:prstGeom prst="rect">
            <a:avLst/>
          </a:prstGeom>
          <a:solidFill>
            <a:srgbClr val="1E1E1E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57750" y="1878025"/>
            <a:ext cx="3971925" cy="76856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executa primeiro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(condicao);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57750" y="2846617"/>
            <a:ext cx="3971925" cy="407194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7" name="Text 14"/>
          <p:cNvSpPr/>
          <p:nvPr/>
        </p:nvSpPr>
        <p:spPr>
          <a:xfrm>
            <a:off x="4857750" y="2846617"/>
            <a:ext cx="3971925" cy="4071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212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Atenção: Sempre garanta que a condição se torne falsa em algum momento para evitar loops infinitos.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ITERAÇÃO: FOR E FOREACH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917972"/>
            <a:ext cx="397259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917972"/>
            <a:ext cx="397259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268016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total sobre o início, condição e incremento. Ideal para repetições numéricas.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756581"/>
            <a:ext cx="3957638" cy="768567"/>
          </a:xfrm>
          <a:prstGeom prst="rect">
            <a:avLst/>
          </a:prstGeom>
          <a:solidFill>
            <a:srgbClr val="1E1E1E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4325" y="1756581"/>
            <a:ext cx="3957638" cy="76856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(let i = 0; i &lt; 3; i++) {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console.log(i);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14325" y="3018067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quando precisar de um contador ou pular elementos específicos.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57750" y="917972"/>
            <a:ext cx="774539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3" name="Text 10"/>
          <p:cNvSpPr/>
          <p:nvPr/>
        </p:nvSpPr>
        <p:spPr>
          <a:xfrm>
            <a:off x="4857750" y="917972"/>
            <a:ext cx="774539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57750" y="1268016"/>
            <a:ext cx="39719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de Array que executa uma função para cada elemento da lista de forma simplificada.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857750" y="1756581"/>
            <a:ext cx="3971925" cy="768567"/>
          </a:xfrm>
          <a:prstGeom prst="rect">
            <a:avLst/>
          </a:prstGeom>
          <a:solidFill>
            <a:srgbClr val="1E1E1E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57750" y="1756581"/>
            <a:ext cx="3971925" cy="76856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lista.forEach(item =&gt; {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console.log(item);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57750" y="3018067"/>
            <a:ext cx="3971925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legível e moderno para percorrer coleções completas de dados.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VETORES (ARRAYS)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14325" y="1046559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 especiais que armazenam múltiplos valores indexados de </a:t>
            </a: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 a N-1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14325" y="1549412"/>
            <a:ext cx="600075" cy="600075"/>
          </a:xfrm>
          <a:prstGeom prst="rect">
            <a:avLst/>
          </a:prstGeom>
          <a:solidFill>
            <a:srgbClr val="1E1E1E"/>
          </a:solidFill>
          <a:ln w="18288">
            <a:solidFill>
              <a:srgbClr val="00D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18" y="1670856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2413" y="1899456"/>
            <a:ext cx="953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[0]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957263" y="1549412"/>
            <a:ext cx="600075" cy="600075"/>
          </a:xfrm>
          <a:prstGeom prst="rect">
            <a:avLst/>
          </a:prstGeom>
          <a:solidFill>
            <a:srgbClr val="1E1E1E"/>
          </a:solidFill>
          <a:ln w="18288">
            <a:solidFill>
              <a:srgbClr val="00D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91555" y="1670856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95350" y="1899456"/>
            <a:ext cx="953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1600200" y="1549412"/>
            <a:ext cx="600075" cy="600075"/>
          </a:xfrm>
          <a:prstGeom prst="rect">
            <a:avLst/>
          </a:prstGeom>
          <a:solidFill>
            <a:srgbClr val="1E1E1E"/>
          </a:solidFill>
          <a:ln w="18288">
            <a:solidFill>
              <a:srgbClr val="00D8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34493" y="1670856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38288" y="1899456"/>
            <a:ext cx="953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2243138" y="1549412"/>
            <a:ext cx="600075" cy="600075"/>
          </a:xfrm>
          <a:prstGeom prst="rect">
            <a:avLst/>
          </a:prstGeom>
          <a:solidFill>
            <a:srgbClr val="1E1E1E"/>
          </a:solidFill>
          <a:ln w="18288">
            <a:solidFill>
              <a:srgbClr val="00D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77430" y="1670856"/>
            <a:ext cx="1029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481225" y="1899456"/>
            <a:ext cx="9532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D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314325" y="2335225"/>
            <a:ext cx="3957638" cy="768567"/>
          </a:xfrm>
          <a:prstGeom prst="rect">
            <a:avLst/>
          </a:prstGeom>
          <a:solidFill>
            <a:srgbClr val="1E1E1E"/>
          </a:solidFill>
          <a:ln w="9144">
            <a:solidFill>
              <a:srgbClr val="F7DF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4325" y="2335225"/>
            <a:ext cx="3957638" cy="76856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frutas = [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"Maçã"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"Uva"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console.log(frutas[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 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Maçã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frutas[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"Pêra"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57750" y="1060847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DF1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Principais: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57750" y="1364456"/>
            <a:ext cx="1040309" cy="175022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23" name="Text 20"/>
          <p:cNvSpPr/>
          <p:nvPr/>
        </p:nvSpPr>
        <p:spPr>
          <a:xfrm>
            <a:off x="4857750" y="1364456"/>
            <a:ext cx="1040309" cy="17502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.push(valor)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57750" y="1539478"/>
            <a:ext cx="3971925" cy="19572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 um novo elemento ao final do vetor.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857750" y="1842362"/>
            <a:ext cx="577304" cy="175022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26" name="Text 23"/>
          <p:cNvSpPr/>
          <p:nvPr/>
        </p:nvSpPr>
        <p:spPr>
          <a:xfrm>
            <a:off x="4857750" y="1842362"/>
            <a:ext cx="577304" cy="17502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.pop()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857750" y="2017384"/>
            <a:ext cx="3971925" cy="19572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 último elemento do vetor.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857750" y="2320268"/>
            <a:ext cx="654490" cy="175022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29" name="Text 26"/>
          <p:cNvSpPr/>
          <p:nvPr/>
        </p:nvSpPr>
        <p:spPr>
          <a:xfrm>
            <a:off x="4857750" y="2320268"/>
            <a:ext cx="654490" cy="17502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.length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857750" y="2495290"/>
            <a:ext cx="3971925" cy="19572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a quantidade total de elementos no vetor.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857750" y="2798173"/>
            <a:ext cx="1271811" cy="175022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32" name="Text 29"/>
          <p:cNvSpPr/>
          <p:nvPr/>
        </p:nvSpPr>
        <p:spPr>
          <a:xfrm>
            <a:off x="4857750" y="2798173"/>
            <a:ext cx="1271811" cy="175022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.indexOf(valor)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57750" y="2973195"/>
            <a:ext cx="3971925" cy="195728"/>
          </a:xfrm>
          <a:prstGeom prst="rect">
            <a:avLst/>
          </a:prstGeom>
          <a:noFill/>
          <a:ln/>
        </p:spPr>
        <p:txBody>
          <a:bodyPr wrap="none" lIns="0" tIns="42545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o índice da primeira ocorrência de um valor.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857750" y="3633267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Dica: Arrays em JavaScript podem conter tipos de dados mistos, mas é boa prática manter a consistência.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68937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" y="703659"/>
            <a:ext cx="9086850" cy="14288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5" name="Text 2"/>
          <p:cNvSpPr/>
          <p:nvPr/>
        </p:nvSpPr>
        <p:spPr>
          <a:xfrm>
            <a:off x="314325" y="314325"/>
            <a:ext cx="85153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FUNÇÕES E PARÂMETROS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314325" y="1060847"/>
            <a:ext cx="1340402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1060847"/>
            <a:ext cx="1340402" cy="207169"/>
          </a:xfrm>
          <a:prstGeom prst="rect">
            <a:avLst/>
          </a:prstGeom>
          <a:noFill/>
          <a:ln/>
        </p:spPr>
        <p:txBody>
          <a:bodyPr wrap="squar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Modularização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4325" y="1268016"/>
            <a:ext cx="3957638" cy="237139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Blocos de código reutilizáveis que executam tarefas específicas.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4325" y="1648030"/>
            <a:ext cx="1057442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0" name="Text 7"/>
          <p:cNvSpPr/>
          <p:nvPr/>
        </p:nvSpPr>
        <p:spPr>
          <a:xfrm>
            <a:off x="314325" y="1648030"/>
            <a:ext cx="1057442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Parâmetros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4325" y="1855198"/>
            <a:ext cx="3957638" cy="41712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 de entrada que permitem que a função processe diferentes dados.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4325" y="2415201"/>
            <a:ext cx="774539" cy="207169"/>
          </a:xfrm>
          <a:prstGeom prst="rect">
            <a:avLst/>
          </a:prstGeom>
          <a:solidFill>
            <a:srgbClr val="00D8FF"/>
          </a:solidFill>
          <a:ln/>
        </p:spPr>
      </p:sp>
      <p:sp>
        <p:nvSpPr>
          <p:cNvPr id="13" name="Text 10"/>
          <p:cNvSpPr/>
          <p:nvPr/>
        </p:nvSpPr>
        <p:spPr>
          <a:xfrm>
            <a:off x="314325" y="2415201"/>
            <a:ext cx="774539" cy="207169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12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4325" y="2622370"/>
            <a:ext cx="3957638" cy="237139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valor que a função devolve após concluir sua lógica interna.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4325" y="3073822"/>
            <a:ext cx="3957638" cy="442913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6" name="Text 13"/>
          <p:cNvSpPr/>
          <p:nvPr/>
        </p:nvSpPr>
        <p:spPr>
          <a:xfrm>
            <a:off x="314325" y="3073822"/>
            <a:ext cx="3957638" cy="44291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2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DRY: Don't Repeat Yourself</a:t>
            </a:r>
            <a:r>
              <a:rPr lang="en-US" sz="900" b="1" dirty="0">
                <a:solidFill>
                  <a:srgbClr val="1212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900" b="1" dirty="0">
                <a:solidFill>
                  <a:srgbClr val="12121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(Não se repita)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57750" y="1060847"/>
            <a:ext cx="39719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7D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Sintaxe e Exemplos: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57750" y="1364456"/>
            <a:ext cx="3971925" cy="1379972"/>
          </a:xfrm>
          <a:prstGeom prst="rect">
            <a:avLst/>
          </a:prstGeom>
          <a:solidFill>
            <a:srgbClr val="1E1E1E"/>
          </a:solidFill>
          <a:ln w="9144">
            <a:solidFill>
              <a:srgbClr val="00D8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57750" y="1364456"/>
            <a:ext cx="3971925" cy="13799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saudar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`Olá, ${nome}!`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(Moderna)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dobro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n * 2;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57750" y="3280209"/>
            <a:ext cx="39719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Funções tornam o código mais legível, testável e fácil de manter em projetos de grande escala.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2026-08-17T22:16:02Z</dcterms:created>
  <dcterms:modified xsi:type="dcterms:W3CDTF">2026-08-17T22:16:02Z</dcterms:modified>
</cp:coreProperties>
</file>