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Herança: Reuso e Extensibilidade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85763" y="1457325"/>
            <a:ext cx="38147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Herança?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832372"/>
            <a:ext cx="160734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653" y="1832372"/>
            <a:ext cx="35468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que uma classe (subclasse) herde atributos e métodos de outra classe (superclasse).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2403872"/>
            <a:ext cx="142875" cy="1785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794" y="2403872"/>
            <a:ext cx="35647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Promove o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reuso de código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permite estender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sem modificar a base.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3" y="2975372"/>
            <a:ext cx="142875" cy="1785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5794" y="2975372"/>
            <a:ext cx="297079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 a relação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"É-UM"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entre entidades.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385763" y="3403997"/>
            <a:ext cx="3814763" cy="600075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3" name="Shape 7"/>
          <p:cNvSpPr/>
          <p:nvPr/>
        </p:nvSpPr>
        <p:spPr>
          <a:xfrm>
            <a:off x="385763" y="3403997"/>
            <a:ext cx="35719" cy="600075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4" name="Text 8"/>
          <p:cNvSpPr/>
          <p:nvPr/>
        </p:nvSpPr>
        <p:spPr>
          <a:xfrm>
            <a:off x="528638" y="3546872"/>
            <a:ext cx="35290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</a:t>
            </a:r>
            <a:r>
              <a:rPr lang="en-US" sz="9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Subclasse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é uma versão mais específica de uma </a:t>
            </a:r>
            <a:r>
              <a:rPr lang="en-US" sz="9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Superclasse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929188" y="1457325"/>
            <a:ext cx="38290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de Hierarquia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829300" y="1975247"/>
            <a:ext cx="2028825" cy="375047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829300" y="1975247"/>
            <a:ext cx="2028825" cy="37504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(Superclasse)</a:t>
            </a:r>
            <a:endParaRPr lang="en-US" sz="8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847" y="2403872"/>
            <a:ext cx="135731" cy="214313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829300" y="2711053"/>
            <a:ext cx="2028825" cy="375047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5829300" y="2711053"/>
            <a:ext cx="2028825" cy="37504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Mamífero</a:t>
            </a:r>
            <a:endParaRPr lang="en-US" sz="8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847" y="3139678"/>
            <a:ext cx="135731" cy="214313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422106" y="3446859"/>
            <a:ext cx="1314450" cy="375047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5422106" y="3446859"/>
            <a:ext cx="1314450" cy="37504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Cachorro</a:t>
            </a:r>
            <a:endParaRPr lang="en-US" sz="800" dirty="0"/>
          </a:p>
        </p:txBody>
      </p:sp>
      <p:sp>
        <p:nvSpPr>
          <p:cNvPr id="24" name="Shape 16"/>
          <p:cNvSpPr/>
          <p:nvPr/>
        </p:nvSpPr>
        <p:spPr>
          <a:xfrm>
            <a:off x="6936581" y="3446859"/>
            <a:ext cx="1314450" cy="375047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936581" y="3446859"/>
            <a:ext cx="1314450" cy="37504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Gato</a:t>
            </a:r>
            <a:endParaRPr lang="en-US" sz="800" dirty="0"/>
          </a:p>
        </p:txBody>
      </p:sp>
      <p:sp>
        <p:nvSpPr>
          <p:cNvPr id="26" name="Text 18"/>
          <p:cNvSpPr/>
          <p:nvPr/>
        </p:nvSpPr>
        <p:spPr>
          <a:xfrm>
            <a:off x="4929188" y="4079081"/>
            <a:ext cx="38290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Cachorro </a:t>
            </a:r>
            <a:r>
              <a:rPr lang="en-US" sz="800" b="1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um</a:t>
            </a:r>
            <a:r>
              <a:rPr lang="en-US" sz="8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Mamífero, que por sua vez </a:t>
            </a:r>
            <a:r>
              <a:rPr lang="en-US" sz="800" b="1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um</a:t>
            </a:r>
            <a:r>
              <a:rPr lang="en-US" sz="8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Animal.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Abstração: Simplificando a Complexidade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473398"/>
            <a:ext cx="250031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2950" y="1457325"/>
            <a:ext cx="855799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é?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385763" y="1796653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o processo de identificar os aspectos essenciais de um objeto e ignorar os detalhes de implementação irrelevantes.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2455664"/>
            <a:ext cx="200025" cy="20002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2944" y="2439591"/>
            <a:ext cx="166761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Foco no "O QUE"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385763" y="2778919"/>
            <a:ext cx="3814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abstração define o que um objeto faz, ocultando a complexidade de como ele faz internamente.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385763" y="3421856"/>
            <a:ext cx="3814763" cy="864394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2" name="Shape 7"/>
          <p:cNvSpPr/>
          <p:nvPr/>
        </p:nvSpPr>
        <p:spPr>
          <a:xfrm>
            <a:off x="385763" y="3421856"/>
            <a:ext cx="35719" cy="864394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3" name="Text 8"/>
          <p:cNvSpPr/>
          <p:nvPr/>
        </p:nvSpPr>
        <p:spPr>
          <a:xfrm>
            <a:off x="385763" y="3421856"/>
            <a:ext cx="3814763" cy="86439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Ao dirigir um carro, você interage com o volante e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pedais (abstração), sem precisar entender a combustão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 do motor.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228" y="1600200"/>
            <a:ext cx="892969" cy="7143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29188" y="2457450"/>
            <a:ext cx="382905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Analogia: Controle Remoto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929188" y="2796778"/>
            <a:ext cx="3829050" cy="1871663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107781" y="2975372"/>
            <a:ext cx="11314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Abstrata: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107781" y="3196828"/>
            <a:ext cx="34718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Ligar / Desligar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107781" y="3346847"/>
            <a:ext cx="34718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Mudar Canal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107781" y="3496866"/>
            <a:ext cx="34718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Ajustar Volume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5107781" y="3789759"/>
            <a:ext cx="135759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Complexidade Oculta: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107781" y="4011216"/>
            <a:ext cx="34718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Circuitos Eletrônicos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107781" y="4161234"/>
            <a:ext cx="34718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Sinais de Infravermelho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107781" y="4311253"/>
            <a:ext cx="347186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Processamento Digital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85528" y="1554491"/>
            <a:ext cx="6772889" cy="6929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185528" y="2218860"/>
            <a:ext cx="6772889" cy="28575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5" name="Text 2"/>
          <p:cNvSpPr/>
          <p:nvPr/>
        </p:nvSpPr>
        <p:spPr>
          <a:xfrm>
            <a:off x="1185528" y="1554491"/>
            <a:ext cx="6772889" cy="6929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3750" b="1" spc="2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ORIENTAÇÃO A OBJETOS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2215567" y="2376022"/>
            <a:ext cx="471281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BB8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Pilares Avançados e Arquitetura (Parte 2)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14500" y="3026104"/>
            <a:ext cx="5715000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Aprofundando em Herança, Polimorfismo, Abstração e as melhores práticas de design de software.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406" y="3839766"/>
            <a:ext cx="964406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Polimorfismo: Múltiplas Formas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85763" y="1457325"/>
            <a:ext cx="38147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Polimorfismo?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832372"/>
            <a:ext cx="142875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794" y="1832372"/>
            <a:ext cx="35647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capacidade de um objeto ser tratado de diferentes maneiras, dependendo do contexto.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2403872"/>
            <a:ext cx="142875" cy="1785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794" y="2403872"/>
            <a:ext cx="35647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que uma mesma ação tenha comportamentos diferentes em objetos de tipos distintos.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3" y="2975372"/>
            <a:ext cx="125016" cy="1785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934" y="2975372"/>
            <a:ext cx="35825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Essencial para criar sistemas flexíveis que podem ser estendidos sem alterar o código existente.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385763" y="3546872"/>
            <a:ext cx="3814763" cy="539353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3" name="Shape 7"/>
          <p:cNvSpPr/>
          <p:nvPr/>
        </p:nvSpPr>
        <p:spPr>
          <a:xfrm>
            <a:off x="385763" y="3546872"/>
            <a:ext cx="35719" cy="539353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4" name="Text 8"/>
          <p:cNvSpPr/>
          <p:nvPr/>
        </p:nvSpPr>
        <p:spPr>
          <a:xfrm>
            <a:off x="385763" y="3546872"/>
            <a:ext cx="3814763" cy="53935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Um método </a:t>
            </a:r>
            <a:r>
              <a:rPr lang="en-US" sz="9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emitirSom()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pode latir em um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Cachorro e miar em um Gato.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929188" y="1457325"/>
            <a:ext cx="38290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929188" y="1832372"/>
            <a:ext cx="3829050" cy="1214270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929188" y="1832372"/>
            <a:ext cx="3829050" cy="1214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animal1 = 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Cachorro();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animal2 = 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Gato();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animal1.</a:t>
            </a:r>
            <a:r>
              <a:rPr lang="en-US" sz="950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emitirSom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r>
              <a:rPr lang="en-US" sz="950" dirty="0">
                <a:solidFill>
                  <a:srgbClr val="70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 Au!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animal2.</a:t>
            </a:r>
            <a:r>
              <a:rPr lang="en-US" sz="950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emitirSom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r>
              <a:rPr lang="en-US" sz="950" dirty="0">
                <a:solidFill>
                  <a:srgbClr val="70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Miau!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941" y="3321676"/>
            <a:ext cx="482203" cy="42862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6556" y="3476327"/>
            <a:ext cx="214313" cy="214313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281" y="3321676"/>
            <a:ext cx="482203" cy="4286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29188" y="3939611"/>
            <a:ext cx="38290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"Mesma chamada, comportamentos diferentes."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Sobrescrita vs Sobrecarga</a:t>
            </a:r>
            <a:endParaRPr lang="en-US" sz="2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400175"/>
            <a:ext cx="139303" cy="1857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9353" y="1385888"/>
            <a:ext cx="1961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Sobrescrita (Override)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14325" y="1707356"/>
            <a:ext cx="39576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Redefine um método da </a:t>
            </a: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superclasse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 subclasse para alterar seu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comportamento.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14325" y="2174491"/>
            <a:ext cx="3957638" cy="822871"/>
          </a:xfrm>
          <a:prstGeom prst="rect">
            <a:avLst/>
          </a:prstGeom>
          <a:solidFill>
            <a:srgbClr val="FFFFFF"/>
          </a:solidFill>
          <a:ln w="9144">
            <a:solidFill>
              <a:srgbClr val="4B008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14325" y="2174491"/>
            <a:ext cx="3957638" cy="82287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i="1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emitirSom() {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</a:t>
            </a: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 Au!"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14325" y="3125949"/>
            <a:ext cx="3957638" cy="478631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1" name="Shape 7"/>
          <p:cNvSpPr/>
          <p:nvPr/>
        </p:nvSpPr>
        <p:spPr>
          <a:xfrm>
            <a:off x="314325" y="3125949"/>
            <a:ext cx="28575" cy="478631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2" name="Text 8"/>
          <p:cNvSpPr/>
          <p:nvPr/>
        </p:nvSpPr>
        <p:spPr>
          <a:xfrm>
            <a:off x="314325" y="3125949"/>
            <a:ext cx="3957638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Contexto:</a:t>
            </a: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Herança (entre classes).</a:t>
            </a: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Assinatura:</a:t>
            </a: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Deve ser idêntica.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400175"/>
            <a:ext cx="185738" cy="1857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9213" y="1385888"/>
            <a:ext cx="200248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Sobrecarga (Overload)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57750" y="1707356"/>
            <a:ext cx="397192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 múltiplas versões de um método na </a:t>
            </a: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classe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parâmetros diferentes.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857750" y="2174491"/>
            <a:ext cx="3971925" cy="674303"/>
          </a:xfrm>
          <a:prstGeom prst="rect">
            <a:avLst/>
          </a:prstGeom>
          <a:solidFill>
            <a:srgbClr val="FFFFFF"/>
          </a:solidFill>
          <a:ln w="9144">
            <a:solidFill>
              <a:srgbClr val="4B0082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57750" y="2174491"/>
            <a:ext cx="3971925" cy="67430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somar(</a:t>
            </a:r>
            <a:r>
              <a:rPr lang="en-US" sz="8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8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... }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somar(</a:t>
            </a:r>
            <a:r>
              <a:rPr lang="en-US" sz="8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</a:t>
            </a:r>
            <a:r>
              <a:rPr lang="en-US" sz="8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b) { ... }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857750" y="2977381"/>
            <a:ext cx="3971925" cy="478631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9" name="Shape 14"/>
          <p:cNvSpPr/>
          <p:nvPr/>
        </p:nvSpPr>
        <p:spPr>
          <a:xfrm>
            <a:off x="4857750" y="2977381"/>
            <a:ext cx="28575" cy="478631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20" name="Text 15"/>
          <p:cNvSpPr/>
          <p:nvPr/>
        </p:nvSpPr>
        <p:spPr>
          <a:xfrm>
            <a:off x="4857750" y="2977381"/>
            <a:ext cx="3971925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Contexto:</a:t>
            </a: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Mesma classe.</a:t>
            </a: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Assinatura:</a:t>
            </a: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Deve ser diferente (parâmetros).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Interfaces: Definindo Contratos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85763" y="1457325"/>
            <a:ext cx="38147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é uma Interface?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832372"/>
            <a:ext cx="107156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832372"/>
            <a:ext cx="3600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 lógico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define quais métodos uma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 deve implementar.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2403872"/>
            <a:ext cx="142875" cy="1785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794" y="2403872"/>
            <a:ext cx="35647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 não contém implementação, apenas as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assinaturas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dos métodos.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3" y="2975372"/>
            <a:ext cx="107156" cy="1785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0075" y="2975372"/>
            <a:ext cx="3600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que diferentes classes sejam usadas de forma intercambiável se seguirem o mesmo padrão.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385763" y="3546872"/>
            <a:ext cx="3814763" cy="51435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3" name="Shape 7"/>
          <p:cNvSpPr/>
          <p:nvPr/>
        </p:nvSpPr>
        <p:spPr>
          <a:xfrm>
            <a:off x="385763" y="3546872"/>
            <a:ext cx="35719" cy="51435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4" name="Text 8"/>
          <p:cNvSpPr/>
          <p:nvPr/>
        </p:nvSpPr>
        <p:spPr>
          <a:xfrm>
            <a:off x="385763" y="3546872"/>
            <a:ext cx="3814763" cy="51435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Analogia: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Uma tomada elétrica é uma interface. Qualquer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aparelho pode se conectar, desde que tenha o plugue correto.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929188" y="1457325"/>
            <a:ext cx="38290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de Contrato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929188" y="1832372"/>
            <a:ext cx="3829050" cy="1754237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929188" y="1832372"/>
            <a:ext cx="3829050" cy="175423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Autenticavel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login(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senha);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logout();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Usuario 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Autenticavel {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0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Obrigatório implementar login e logout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822" y="3861643"/>
            <a:ext cx="535781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Abstratas: Bases Incompletas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85763" y="1457325"/>
            <a:ext cx="38147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que são?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832372"/>
            <a:ext cx="107156" cy="1785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832372"/>
            <a:ext cx="3600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que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não podem ser instanciadas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diretamente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(não podemos criar objetos delas).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3" y="2403872"/>
            <a:ext cx="142875" cy="17859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5794" y="2403872"/>
            <a:ext cx="35647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Servem como um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 base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outras classes,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definindo comportamentos comuns.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3" y="2975372"/>
            <a:ext cx="142875" cy="1785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5794" y="2975372"/>
            <a:ext cx="35647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Podem conter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métodos abstratos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(sem corpo), que as 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subclasses são obrigadas a implementar.</a:t>
            </a:r>
            <a:endParaRPr lang="en-US" sz="1050" dirty="0"/>
          </a:p>
        </p:txBody>
      </p:sp>
      <p:sp>
        <p:nvSpPr>
          <p:cNvPr id="12" name="Shape 6"/>
          <p:cNvSpPr/>
          <p:nvPr/>
        </p:nvSpPr>
        <p:spPr>
          <a:xfrm>
            <a:off x="385763" y="3546872"/>
            <a:ext cx="3814763" cy="514350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13" name="Shape 7"/>
          <p:cNvSpPr/>
          <p:nvPr/>
        </p:nvSpPr>
        <p:spPr>
          <a:xfrm>
            <a:off x="385763" y="3546872"/>
            <a:ext cx="35719" cy="51435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4" name="Text 8"/>
          <p:cNvSpPr/>
          <p:nvPr/>
        </p:nvSpPr>
        <p:spPr>
          <a:xfrm>
            <a:off x="385763" y="3546872"/>
            <a:ext cx="3814763" cy="51435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Uso: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Quando você tem um conceito genérico (ex: </a:t>
            </a: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FormaGeometrica) que não faz sentido existir sozinho.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929188" y="1457325"/>
            <a:ext cx="38290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 de Código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4929188" y="1832372"/>
            <a:ext cx="3829050" cy="1934226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929188" y="1832372"/>
            <a:ext cx="3829050" cy="193422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class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6A1B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i="1" dirty="0">
                <a:solidFill>
                  <a:srgbClr val="D32F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desenhar();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Circulo 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Forma {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00" b="1" dirty="0">
                <a:solidFill>
                  <a:srgbClr val="4B0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desenhar() {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70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Lógica para desenhar círculo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189" y="4041632"/>
            <a:ext cx="375047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Composição vs Herança: Qual Escolher?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4357688" y="2357438"/>
            <a:ext cx="428625" cy="428625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6" name="Text 3"/>
          <p:cNvSpPr/>
          <p:nvPr/>
        </p:nvSpPr>
        <p:spPr>
          <a:xfrm>
            <a:off x="4357688" y="2357438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473398"/>
            <a:ext cx="225028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947" y="1457325"/>
            <a:ext cx="148936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Herança (É-UM)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85763" y="1832372"/>
            <a:ext cx="38147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Define uma relação de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especialização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85763" y="2139553"/>
            <a:ext cx="38147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Acoplamento forte entre superclasse e subclasse.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85763" y="2446734"/>
            <a:ext cx="38147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Alterações na base afetam toda a hierarquia.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85763" y="2753916"/>
            <a:ext cx="38147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Carro </a:t>
            </a:r>
            <a:r>
              <a:rPr lang="en-US" sz="105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Segoe UI" pitchFamily="34" charset="0"/>
                <a:ea typeface="Segoe UI" pitchFamily="34" charset="-122"/>
                <a:cs typeface="Segoe UI" pitchFamily="34" charset="-120"/>
              </a:rPr>
              <a:t>é um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Veículo.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473398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36369" y="1457325"/>
            <a:ext cx="218905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Composição (TEM-UM)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929188" y="1832372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Define uma relação de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associação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929188" y="2139553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Acoplamento fraco e maior flexibilidade.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929188" y="2446734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Permite trocar comportamentos em tempo de execução.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929188" y="2753916"/>
            <a:ext cx="38290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Carro </a:t>
            </a:r>
            <a:r>
              <a:rPr lang="en-US" sz="1050" u="sng" dirty="0">
                <a:solidFill>
                  <a:srgbClr val="333333"/>
                </a:solidFill>
                <a:uFill>
                  <a:solidFill>
                    <a:srgbClr val="333333"/>
                  </a:solidFill>
                </a:uFill>
                <a:latin typeface="Segoe UI" pitchFamily="34" charset="0"/>
                <a:ea typeface="Segoe UI" pitchFamily="34" charset="-122"/>
                <a:cs typeface="Segoe UI" pitchFamily="34" charset="-120"/>
              </a:rPr>
              <a:t>tem um</a:t>
            </a: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Motor.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85763" y="4179094"/>
            <a:ext cx="8372475" cy="935831"/>
          </a:xfrm>
          <a:prstGeom prst="rect">
            <a:avLst/>
          </a:prstGeom>
          <a:solidFill>
            <a:srgbClr val="EDE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385763" y="4179094"/>
            <a:ext cx="35719" cy="935831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21" name="Text 16"/>
          <p:cNvSpPr/>
          <p:nvPr/>
        </p:nvSpPr>
        <p:spPr>
          <a:xfrm>
            <a:off x="528638" y="4321969"/>
            <a:ext cx="80867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Regra de Ouro: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28638" y="4586288"/>
            <a:ext cx="80867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"Prefira a composição à herança." Use herança apenas quando houver uma relação de tipo clara e estável. Para reuso de funcionalidades, a composição é geralmente mais robusta.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85725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14325" y="314325"/>
            <a:ext cx="851535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Introdução aos Princípios SOLID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314325" y="1028700"/>
            <a:ext cx="4214813" cy="607219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4338" y="1157288"/>
            <a:ext cx="336872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865510" y="1100138"/>
            <a:ext cx="356361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Responsibility Principle (Responsabilidade Única)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5510" y="1457325"/>
            <a:ext cx="356361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classe deve ter um, e apenas um, motivo para mudar.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14863" y="1028700"/>
            <a:ext cx="4214813" cy="578644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14875" y="1157288"/>
            <a:ext cx="325041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5154216" y="1114425"/>
            <a:ext cx="357544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Open/Closed Principle (Aberto/Fechado)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54216" y="1293019"/>
            <a:ext cx="35754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devem estar abertas para extensão, mas fechadas para modificação.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4325" y="1693069"/>
            <a:ext cx="4214813" cy="757238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4338" y="1910953"/>
            <a:ext cx="354118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882755" y="1853803"/>
            <a:ext cx="354637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Liskov Substitution Principle (Substituição de Liskov)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82755" y="2210991"/>
            <a:ext cx="354637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Subclasses devem ser substituíveis por suas classes base.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14863" y="1693069"/>
            <a:ext cx="4214813" cy="757238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14875" y="1896666"/>
            <a:ext cx="327329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</a:t>
            </a:r>
            <a:endParaRPr lang="en-US" sz="2450" dirty="0"/>
          </a:p>
        </p:txBody>
      </p:sp>
      <p:sp>
        <p:nvSpPr>
          <p:cNvPr id="19" name="Text 16"/>
          <p:cNvSpPr/>
          <p:nvPr/>
        </p:nvSpPr>
        <p:spPr>
          <a:xfrm>
            <a:off x="5156504" y="1764506"/>
            <a:ext cx="357315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Segregation Principle (Segregação de Interfaces)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56504" y="2121694"/>
            <a:ext cx="35731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Muitas interfaces específicas são melhores do que uma interface única geral.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14325" y="2507456"/>
            <a:ext cx="4214813" cy="607219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4338" y="2636044"/>
            <a:ext cx="325710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2450" dirty="0"/>
          </a:p>
        </p:txBody>
      </p:sp>
      <p:sp>
        <p:nvSpPr>
          <p:cNvPr id="23" name="Text 20"/>
          <p:cNvSpPr/>
          <p:nvPr/>
        </p:nvSpPr>
        <p:spPr>
          <a:xfrm>
            <a:off x="854348" y="2578894"/>
            <a:ext cx="3574777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Inversion Principle (Inversão de Dependência)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4348" y="2936081"/>
            <a:ext cx="357477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Dependa de abstrações, não de implementações concretas.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314325" y="3200400"/>
            <a:ext cx="85153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"SOLID: O guia para um design de software robusto, flexível e fácil de manter."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Patterns: Soluções Reutilizáveis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85763" y="1385888"/>
            <a:ext cx="8372475" cy="4714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Padrões de Projeto são soluções consolidadas para problemas recorrentes no design de software orientado a objetos.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85763" y="2071688"/>
            <a:ext cx="2695538" cy="2314575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2227064"/>
            <a:ext cx="192881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2956" y="2214563"/>
            <a:ext cx="92433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Criacionais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28638" y="2518172"/>
            <a:ext cx="24097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Focam no processo de criação de objetos.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28638" y="2703909"/>
            <a:ext cx="2409788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Singleton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28638" y="2935356"/>
            <a:ext cx="2409788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Method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28638" y="3166802"/>
            <a:ext cx="2409788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Factory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28638" y="3398248"/>
            <a:ext cx="2409788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Builder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24175" y="2071688"/>
            <a:ext cx="2695594" cy="2314575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50" y="2227064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09938" y="2214563"/>
            <a:ext cx="90513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Estruturais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67050" y="2518172"/>
            <a:ext cx="24098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Lidam com a composição de classes e objetos.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3367050" y="2703909"/>
            <a:ext cx="240984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367050" y="2935356"/>
            <a:ext cx="240984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Facade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367050" y="3166802"/>
            <a:ext cx="240984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Decorator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367050" y="3398248"/>
            <a:ext cx="240984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062644" y="2071688"/>
            <a:ext cx="2695594" cy="2314575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19" y="2227064"/>
            <a:ext cx="171450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48406" y="2214563"/>
            <a:ext cx="145760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Comportamentais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205519" y="2518172"/>
            <a:ext cx="24098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Focam na comunicação entre objetos.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6205519" y="2703909"/>
            <a:ext cx="240984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Observer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205519" y="2935356"/>
            <a:ext cx="240984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205519" y="3166802"/>
            <a:ext cx="240984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6205519" y="3398248"/>
            <a:ext cx="2409844" cy="231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385763" y="4572000"/>
            <a:ext cx="83724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7080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Popularizados pelo livro "Design Patterns" do Gang of Four (GoF).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" y="28575"/>
            <a:ext cx="9086850" cy="11430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4" name="Text 1"/>
          <p:cNvSpPr/>
          <p:nvPr/>
        </p:nvSpPr>
        <p:spPr>
          <a:xfrm>
            <a:off x="385763" y="314325"/>
            <a:ext cx="8372475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 da POO: Por que usar?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385763" y="1457325"/>
            <a:ext cx="4079081" cy="1500188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671638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125" y="1693069"/>
            <a:ext cx="1527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Reuso de Código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00075" y="2035969"/>
            <a:ext cx="36504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Através da herança e composição, evitamos a duplicação de lógica, economizando tempo e reduzindo erros.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79156" y="1457325"/>
            <a:ext cx="4079081" cy="1500188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671638"/>
            <a:ext cx="257175" cy="2571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93519" y="1693069"/>
            <a:ext cx="151693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Manutenibilidade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893469" y="2035969"/>
            <a:ext cx="36504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encapsulamento isola as mudanças. Alterar uma classe raramente quebra o restante do sistema.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85763" y="3171825"/>
            <a:ext cx="4079081" cy="1500188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" y="3386138"/>
            <a:ext cx="257175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0125" y="3407569"/>
            <a:ext cx="129050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Escalabilidade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600075" y="3750469"/>
            <a:ext cx="36504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Sistemas orientados a objetos são mais fáceis de expandir, permitindo adicionar novas funcionalidades com baixo impacto.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679156" y="3171825"/>
            <a:ext cx="4079081" cy="1500188"/>
          </a:xfrm>
          <a:prstGeom prst="rect">
            <a:avLst/>
          </a:prstGeom>
          <a:solidFill>
            <a:srgbClr val="FFFFFF"/>
          </a:solidFill>
          <a:ln w="18288">
            <a:solidFill>
              <a:srgbClr val="4B0082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386138"/>
            <a:ext cx="257175" cy="2571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93519" y="3407569"/>
            <a:ext cx="1768804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B00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Clareza e Abstração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893469" y="3750469"/>
            <a:ext cx="365045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código reflete o mundo real, tornando a lógica mais intuitiva para desenvolvedores e facilitando o trabalho em equipe.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4667" y="556208"/>
            <a:ext cx="4474611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B8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JORNADA CONCLUÍDA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1357313" y="1302730"/>
            <a:ext cx="3107531" cy="7707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357313" y="1302730"/>
            <a:ext cx="28575" cy="770744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6" name="Text 3"/>
          <p:cNvSpPr/>
          <p:nvPr/>
        </p:nvSpPr>
        <p:spPr>
          <a:xfrm>
            <a:off x="1500188" y="1445605"/>
            <a:ext cx="28217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8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Pilares Avançados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00188" y="1713495"/>
            <a:ext cx="282178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Dominamos Abstração, Herança e Polimorfismo para criar sistemas flexíveis.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79156" y="1302730"/>
            <a:ext cx="3107531" cy="7707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679156" y="1302730"/>
            <a:ext cx="28575" cy="770744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10" name="Text 7"/>
          <p:cNvSpPr/>
          <p:nvPr/>
        </p:nvSpPr>
        <p:spPr>
          <a:xfrm>
            <a:off x="4822031" y="1445605"/>
            <a:ext cx="28217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8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Contratos e Bases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22031" y="1713495"/>
            <a:ext cx="282178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Aprendemos a usar Interfaces e Classes Abstratas para padronizar o código.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357313" y="2287786"/>
            <a:ext cx="3107531" cy="7707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357313" y="2287786"/>
            <a:ext cx="28575" cy="770744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14" name="Text 11"/>
          <p:cNvSpPr/>
          <p:nvPr/>
        </p:nvSpPr>
        <p:spPr>
          <a:xfrm>
            <a:off x="1500188" y="2430661"/>
            <a:ext cx="28217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8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de Software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00188" y="2698552"/>
            <a:ext cx="282178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Exploramos a Composição e os princípios SOLID para robustez.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79156" y="2287786"/>
            <a:ext cx="3107531" cy="7707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79156" y="2287786"/>
            <a:ext cx="28575" cy="770744"/>
          </a:xfrm>
          <a:prstGeom prst="rect">
            <a:avLst/>
          </a:prstGeom>
          <a:solidFill>
            <a:srgbClr val="BB86FC"/>
          </a:solidFill>
          <a:ln/>
        </p:spPr>
      </p:sp>
      <p:sp>
        <p:nvSpPr>
          <p:cNvPr id="18" name="Text 15"/>
          <p:cNvSpPr/>
          <p:nvPr/>
        </p:nvSpPr>
        <p:spPr>
          <a:xfrm>
            <a:off x="4822031" y="2430661"/>
            <a:ext cx="2821781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B86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22031" y="2698552"/>
            <a:ext cx="2821781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Aplique esses conceitos em projetos reais e explore Padrões de Projeto (Design Patterns).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102383" y="3415717"/>
            <a:ext cx="493923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Orientação a Objetos é uma ferramenta poderosa.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Use-a com sabedoria!</a:t>
            </a:r>
            <a:endParaRPr lang="en-US" sz="14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109" y="4112233"/>
            <a:ext cx="535781" cy="428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2026-08-17T22:13:08Z</dcterms:created>
  <dcterms:modified xsi:type="dcterms:W3CDTF">2026-08-17T22:13:08Z</dcterms:modified>
</cp:coreProperties>
</file>