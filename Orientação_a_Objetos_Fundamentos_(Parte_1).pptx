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Modificadores de Acesso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78" y="1282303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231" y="1243013"/>
            <a:ext cx="5659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07231" y="1457325"/>
            <a:ext cx="295209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membro é acessível de qualquer lugar do código.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09" y="1855198"/>
            <a:ext cx="150019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231" y="1815908"/>
            <a:ext cx="66023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707231" y="2030220"/>
            <a:ext cx="3194931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membro é acessível apenas dentro da própria classe.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2428094"/>
            <a:ext cx="214313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7231" y="2388803"/>
            <a:ext cx="84882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707231" y="2603116"/>
            <a:ext cx="348776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Acessível na própria classe e em suas subclasses (herança).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929188" y="1243013"/>
            <a:ext cx="38290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Tabela de Visibilidade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932759" y="1585913"/>
            <a:ext cx="1335435" cy="310753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932759" y="1585913"/>
            <a:ext cx="1335435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6268194" y="1585913"/>
            <a:ext cx="725593" cy="310753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268194" y="1585913"/>
            <a:ext cx="725593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6991499" y="1585913"/>
            <a:ext cx="983159" cy="310753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991499" y="1585913"/>
            <a:ext cx="983159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7972648" y="1585913"/>
            <a:ext cx="782017" cy="310753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972648" y="1585913"/>
            <a:ext cx="782017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932759" y="1889522"/>
            <a:ext cx="1345927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Própria Classe</a:t>
            </a:r>
            <a:endParaRPr lang="en-US" sz="8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184" y="1982391"/>
            <a:ext cx="114300" cy="11430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625" y="1982391"/>
            <a:ext cx="114300" cy="1143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967" y="1982391"/>
            <a:ext cx="114300" cy="1143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932759" y="2200275"/>
            <a:ext cx="1345927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Subclasse</a:t>
            </a:r>
            <a:endParaRPr lang="en-US" sz="8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2184" y="2293144"/>
            <a:ext cx="114300" cy="114300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2625" y="2293144"/>
            <a:ext cx="114300" cy="114300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398" y="2293144"/>
            <a:ext cx="71438" cy="1143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932759" y="2511028"/>
            <a:ext cx="1345927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Outras Classes</a:t>
            </a:r>
            <a:endParaRPr lang="en-US" sz="85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2184" y="2603897"/>
            <a:ext cx="114300" cy="114300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4057" y="2603897"/>
            <a:ext cx="71438" cy="114300"/>
          </a:xfrm>
          <a:prstGeom prst="rect">
            <a:avLst/>
          </a:prstGeom>
        </p:spPr>
      </p:pic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1398" y="2603897"/>
            <a:ext cx="71438" cy="11430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4929188" y="3039666"/>
            <a:ext cx="3829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 uso correto de modificadores é a base para um bom encapsulamento."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Atributos: O Estado do Objeto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259086"/>
            <a:ext cx="175022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7941" y="1243013"/>
            <a:ext cx="202625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são Atributos?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85763" y="1618059"/>
            <a:ext cx="38147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Atributos são variáveis declaradas dentro de uma classe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representam as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 propriedades de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objeto.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85763" y="2446734"/>
            <a:ext cx="3814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conjunto de valores desses atributos em um determinado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momento define o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atual do objeto.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85763" y="3118247"/>
            <a:ext cx="3814763" cy="653653"/>
          </a:xfrm>
          <a:prstGeom prst="rect">
            <a:avLst/>
          </a:prstGeom>
          <a:solidFill>
            <a:srgbClr val="E7F3FF"/>
          </a:solidFill>
          <a:ln/>
        </p:spPr>
      </p:sp>
      <p:sp>
        <p:nvSpPr>
          <p:cNvPr id="10" name="Shape 6"/>
          <p:cNvSpPr/>
          <p:nvPr/>
        </p:nvSpPr>
        <p:spPr>
          <a:xfrm>
            <a:off x="385763" y="3118247"/>
            <a:ext cx="35719" cy="653653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7"/>
          <p:cNvSpPr/>
          <p:nvPr/>
        </p:nvSpPr>
        <p:spPr>
          <a:xfrm>
            <a:off x="492919" y="3225403"/>
            <a:ext cx="36004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Importante: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92919" y="3375422"/>
            <a:ext cx="36004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objeto (instância) possui sua própria cópia dos atributos, permitindo que diferentes objetos da mesma classe tenham estados distintos.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259086"/>
            <a:ext cx="250031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6375" y="1243013"/>
            <a:ext cx="263453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Implementação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929188" y="1618059"/>
            <a:ext cx="3829050" cy="1237097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929188" y="1618059"/>
            <a:ext cx="3829050" cy="1237097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0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D63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D63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D63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D63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estaAtivo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929188" y="2840868"/>
            <a:ext cx="3829050" cy="40719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Neste exemplo, </a:t>
            </a:r>
            <a:r>
              <a:rPr lang="en-US" sz="8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nome</a:t>
            </a: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8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idade</a:t>
            </a: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8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8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estaAtivo</a:t>
            </a: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são os atributos que </a:t>
            </a: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definem o que um Usuário "tem".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Conceito de Classe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5763" y="1243013"/>
            <a:ext cx="38862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uma Classe?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618059"/>
            <a:ext cx="157163" cy="1928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081" y="1618059"/>
            <a:ext cx="362188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classe é um </a:t>
            </a:r>
            <a:r>
              <a:rPr lang="en-US" sz="11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</a:t>
            </a: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 </a:t>
            </a:r>
            <a:r>
              <a:rPr lang="en-US" sz="11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molde</a:t>
            </a: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define a </a:t>
            </a: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de um objeto.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232422"/>
            <a:ext cx="196453" cy="1928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9372" y="2232422"/>
            <a:ext cx="358259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 descreve quais </a:t>
            </a: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Métodos</a:t>
            </a: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os </a:t>
            </a: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criados a partir dela terão.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2857500"/>
            <a:ext cx="157163" cy="19288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0081" y="2857500"/>
            <a:ext cx="362188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partir de uma única classe, podemos criar </a:t>
            </a:r>
            <a:r>
              <a:rPr lang="en-US" sz="11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infinitas instâncias</a:t>
            </a: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(objetos).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4572000" y="957263"/>
            <a:ext cx="4543425" cy="41576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7"/>
          <p:cNvSpPr/>
          <p:nvPr/>
        </p:nvSpPr>
        <p:spPr>
          <a:xfrm>
            <a:off x="4857750" y="1243013"/>
            <a:ext cx="39004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Analogia do Molde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4857750" y="1618059"/>
            <a:ext cx="3900488" cy="917972"/>
          </a:xfrm>
          <a:prstGeom prst="rect">
            <a:avLst/>
          </a:prstGeom>
          <a:solidFill>
            <a:srgbClr val="E9ECEF"/>
          </a:solidFill>
          <a:ln w="18288">
            <a:solidFill>
              <a:srgbClr val="003366"/>
            </a:solidFill>
            <a:prstDash val="dash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259" y="1760934"/>
            <a:ext cx="321469" cy="4286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00625" y="2260997"/>
            <a:ext cx="36147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 (O Projeto)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5000625" y="2393156"/>
            <a:ext cx="3614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Define: Cor, Modelo, Velocidade</a:t>
            </a:r>
            <a:endParaRPr lang="en-US" sz="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838" y="2589609"/>
            <a:ext cx="214313" cy="28575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4900" y="2978944"/>
            <a:ext cx="285750" cy="2857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36325" y="3264694"/>
            <a:ext cx="3429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 1</a:t>
            </a:r>
            <a:endParaRPr lang="en-US" sz="6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063" y="2978944"/>
            <a:ext cx="285750" cy="2857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636488" y="3264694"/>
            <a:ext cx="3429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 2</a:t>
            </a:r>
            <a:endParaRPr lang="en-US" sz="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5225" y="2978944"/>
            <a:ext cx="285750" cy="28575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936650" y="3264694"/>
            <a:ext cx="3429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 3</a:t>
            </a:r>
            <a:endParaRPr lang="en-US" sz="600" dirty="0"/>
          </a:p>
        </p:txBody>
      </p:sp>
      <p:sp>
        <p:nvSpPr>
          <p:cNvPr id="25" name="Text 14"/>
          <p:cNvSpPr/>
          <p:nvPr/>
        </p:nvSpPr>
        <p:spPr>
          <a:xfrm>
            <a:off x="4857750" y="3364706"/>
            <a:ext cx="3900488" cy="27503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 classe é a planta da casa; o objeto é a casa construída."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Construtores: Inicializando Objetos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259086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944" y="1243013"/>
            <a:ext cx="23002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um Construtor?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85763" y="1618059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É um método especial chamado automaticamente no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momento da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instanciação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85763" y="2189559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Tem como objetivo principal configurar o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inicial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85763" y="2761059"/>
            <a:ext cx="381476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Geralmente possui o mesmo nome da classe (em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linguagens como Java/C++) ou nomes específicos como </a:t>
            </a: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(JS) ou </a:t>
            </a: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__init__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(Python).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85763" y="3625453"/>
            <a:ext cx="3814763" cy="514350"/>
          </a:xfrm>
          <a:prstGeom prst="rect">
            <a:avLst/>
          </a:prstGeom>
          <a:solidFill>
            <a:srgbClr val="E9F5FF"/>
          </a:solidFill>
          <a:ln/>
        </p:spPr>
      </p:sp>
      <p:sp>
        <p:nvSpPr>
          <p:cNvPr id="11" name="Shape 7"/>
          <p:cNvSpPr/>
          <p:nvPr/>
        </p:nvSpPr>
        <p:spPr>
          <a:xfrm>
            <a:off x="385763" y="3625453"/>
            <a:ext cx="35719" cy="514350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2" name="Text 8"/>
          <p:cNvSpPr/>
          <p:nvPr/>
        </p:nvSpPr>
        <p:spPr>
          <a:xfrm>
            <a:off x="385763" y="3625453"/>
            <a:ext cx="3814763" cy="51435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Importante: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Garante que o objeto não seja criado em um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inválido ou incompleto.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259086"/>
            <a:ext cx="250031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6375" y="1243013"/>
            <a:ext cx="156738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929188" y="1618059"/>
            <a:ext cx="3829050" cy="2099928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929188" y="1618059"/>
            <a:ext cx="3829050" cy="20999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Carro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(marca, cor)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.marca = marca;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.cor = cor;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.ligado = 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Chamada do construtor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meuCarro = 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Carro(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"Ford"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"Azul"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Encapsulamento: Protegendo a Integridade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259086"/>
            <a:ext cx="250031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2950" y="1243013"/>
            <a:ext cx="198970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Encapsular?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85763" y="1618059"/>
            <a:ext cx="38147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técnica de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esconder os detalhes internos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funcionamento de um objeto e proteger seus dados de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acessos externos diretos.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85763" y="2482453"/>
            <a:ext cx="3814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expõe apenas uma interface pública segura para interação, mantendo seu estado interno consistente.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85763" y="3118247"/>
            <a:ext cx="3814763" cy="725091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0" name="Shape 6"/>
          <p:cNvSpPr/>
          <p:nvPr/>
        </p:nvSpPr>
        <p:spPr>
          <a:xfrm>
            <a:off x="385763" y="3118247"/>
            <a:ext cx="35719" cy="72509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7"/>
          <p:cNvSpPr/>
          <p:nvPr/>
        </p:nvSpPr>
        <p:spPr>
          <a:xfrm>
            <a:off x="492919" y="3225403"/>
            <a:ext cx="36004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Benefícios: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92919" y="3393281"/>
            <a:ext cx="36004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Segurança dos dados internos.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92919" y="3543300"/>
            <a:ext cx="36004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Facilidade de manutenção.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92919" y="3693319"/>
            <a:ext cx="36004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Redução do acoplamento entre classes.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931" y="1600200"/>
            <a:ext cx="1071563" cy="10715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29188" y="2814638"/>
            <a:ext cx="38290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Pública vs. Detalhes Privados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929188" y="3296841"/>
            <a:ext cx="3829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 usuário do objeto sabe O QUE ele faz, mas não precisa saber COMO ele faz internamente."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Getters e Setters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259086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944" y="1243013"/>
            <a:ext cx="183382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Controlado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85763" y="1618059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Getters: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Métodos que permitem ler o valor de um atributo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privado.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85763" y="2189559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Setters: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Métodos que permitem modificar o valor de um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atributo privado.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85763" y="2832497"/>
            <a:ext cx="3814763" cy="514350"/>
          </a:xfrm>
          <a:prstGeom prst="rect">
            <a:avLst/>
          </a:prstGeom>
          <a:solidFill>
            <a:srgbClr val="E9F5FF"/>
          </a:solidFill>
          <a:ln/>
        </p:spPr>
      </p:sp>
      <p:sp>
        <p:nvSpPr>
          <p:cNvPr id="10" name="Shape 6"/>
          <p:cNvSpPr/>
          <p:nvPr/>
        </p:nvSpPr>
        <p:spPr>
          <a:xfrm>
            <a:off x="385763" y="2832497"/>
            <a:ext cx="35719" cy="514350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1" name="Text 7"/>
          <p:cNvSpPr/>
          <p:nvPr/>
        </p:nvSpPr>
        <p:spPr>
          <a:xfrm>
            <a:off x="385763" y="2832497"/>
            <a:ext cx="3814763" cy="51435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Vantagem: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Permite validar os dados antes de salvá-los no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 (ex: impedir idade negativa).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831" y="3650456"/>
            <a:ext cx="428625" cy="42862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259086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86375" y="1243013"/>
            <a:ext cx="210115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Validação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929188" y="1618059"/>
            <a:ext cx="3829050" cy="2060135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929188" y="1618059"/>
            <a:ext cx="3829050" cy="206013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005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setIdade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novaIdade) {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(novaIdade &gt; 0) {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.idade = novaIdade;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8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 inválida!"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005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getIdade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this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.idade;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Instanciação: Dando Vida às Classes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259086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944" y="1243013"/>
            <a:ext cx="185631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Instanciar?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85763" y="1618059"/>
            <a:ext cx="38147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Instanciação é o processo de criar um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 real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memória do computador a partir do modelo definido por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85763" y="2482453"/>
            <a:ext cx="3814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objeto criado é uma "instância" única, com seu próprio espaço de memória para armazenar seus atributos.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85763" y="3153966"/>
            <a:ext cx="3814763" cy="646509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0" name="Shape 6"/>
          <p:cNvSpPr/>
          <p:nvPr/>
        </p:nvSpPr>
        <p:spPr>
          <a:xfrm>
            <a:off x="385763" y="3153966"/>
            <a:ext cx="35719" cy="64650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1" name="Text 7"/>
          <p:cNvSpPr/>
          <p:nvPr/>
        </p:nvSpPr>
        <p:spPr>
          <a:xfrm>
            <a:off x="528638" y="3296841"/>
            <a:ext cx="35290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Memória: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28638" y="3500438"/>
            <a:ext cx="4287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30" y="3507581"/>
            <a:ext cx="114300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1730" y="3500438"/>
            <a:ext cx="6146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686427" y="3511153"/>
            <a:ext cx="2315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704" y="3507581"/>
            <a:ext cx="114300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68004" y="3500438"/>
            <a:ext cx="10506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 (Instância)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259086"/>
            <a:ext cx="250031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86375" y="1243013"/>
            <a:ext cx="156738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929188" y="1618059"/>
            <a:ext cx="3829050" cy="1379972"/>
          </a:xfrm>
          <a:prstGeom prst="rect">
            <a:avLst/>
          </a:prstGeom>
          <a:solidFill>
            <a:srgbClr val="282C34"/>
          </a:solidFill>
          <a:ln w="9144">
            <a:solidFill>
              <a:srgbClr val="00336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929188" y="1618059"/>
            <a:ext cx="3829050" cy="13799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Criando instâncias da classe Carro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meuCarro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carroDoVizinho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meuCarro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.cor =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"Azul"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carroDoVizinho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.cor =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"Vermelho"</a:t>
            </a: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929188" y="3198056"/>
            <a:ext cx="38290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que 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meuCarro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9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carroDoVizinho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são objetos distintos,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embora tenham sido criados a partir da mesma classe.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85528" y="1554491"/>
            <a:ext cx="6772889" cy="6929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185528" y="2218860"/>
            <a:ext cx="6772889" cy="28575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5" name="Text 2"/>
          <p:cNvSpPr/>
          <p:nvPr/>
        </p:nvSpPr>
        <p:spPr>
          <a:xfrm>
            <a:off x="1185528" y="1554491"/>
            <a:ext cx="6772889" cy="6929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spc="2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ORIENTAÇÃO A OBJETOS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1884611" y="2376022"/>
            <a:ext cx="5374723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D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 e Conceitos Essenciais (Parte 1)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14500" y="3026104"/>
            <a:ext cx="5715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Explorando a base do desenvolvimento de software moderno através de objetos, classes e encapsulamento.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406" y="3839766"/>
            <a:ext cx="964406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Métodos: Definindo o Comportamento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85763" y="1457325"/>
            <a:ext cx="1086017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6" name="Text 3"/>
          <p:cNvSpPr/>
          <p:nvPr/>
        </p:nvSpPr>
        <p:spPr>
          <a:xfrm>
            <a:off x="385763" y="1457325"/>
            <a:ext cx="1086017" cy="207169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são?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5763" y="1735931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São funções definidas dentro de uma classe que descrevem as ações que um objeto pode realizar.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85763" y="2378869"/>
            <a:ext cx="1086017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2378869"/>
            <a:ext cx="1086017" cy="207169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Parâmetros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5763" y="2657475"/>
            <a:ext cx="38147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que o método recebe para realizar sua tarefa.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5763" y="3086100"/>
            <a:ext cx="803114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2" name="Text 9"/>
          <p:cNvSpPr/>
          <p:nvPr/>
        </p:nvSpPr>
        <p:spPr>
          <a:xfrm>
            <a:off x="385763" y="3086100"/>
            <a:ext cx="803114" cy="207169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5763" y="3364706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resultado que o método devolve após a execução da sua lógica.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5763" y="4007644"/>
            <a:ext cx="3814763" cy="671513"/>
          </a:xfrm>
          <a:prstGeom prst="rect">
            <a:avLst/>
          </a:prstGeom>
          <a:solidFill>
            <a:srgbClr val="E9F7FE"/>
          </a:solidFill>
          <a:ln/>
        </p:spPr>
      </p:sp>
      <p:sp>
        <p:nvSpPr>
          <p:cNvPr id="15" name="Shape 12"/>
          <p:cNvSpPr/>
          <p:nvPr/>
        </p:nvSpPr>
        <p:spPr>
          <a:xfrm>
            <a:off x="385763" y="4007644"/>
            <a:ext cx="35719" cy="671513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6" name="Text 13"/>
          <p:cNvSpPr/>
          <p:nvPr/>
        </p:nvSpPr>
        <p:spPr>
          <a:xfrm>
            <a:off x="385763" y="4007644"/>
            <a:ext cx="3814763" cy="6715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operam sobre o </a:t>
            </a: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(atributos) do próprio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objeto, permitindo interações dinâmicas.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29188" y="1457325"/>
            <a:ext cx="38290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Implementação: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29188" y="1743075"/>
            <a:ext cx="3829050" cy="2185988"/>
          </a:xfrm>
          <a:prstGeom prst="rect">
            <a:avLst/>
          </a:prstGeom>
          <a:solidFill>
            <a:srgbClr val="F4F4F4"/>
          </a:solidFill>
          <a:ln w="18288">
            <a:solidFill>
              <a:srgbClr val="003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29188" y="1743075"/>
            <a:ext cx="3829050" cy="2185988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ContaBancaria {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05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valor) {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.saldo += valor;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05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getSaldo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.saldo;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822" y="4204097"/>
            <a:ext cx="535781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9286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242888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Conceito de Objeto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5763" y="1243013"/>
            <a:ext cx="3814763" cy="232172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um Objeto?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5763" y="1546622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objeto é uma entidade do mundo real que possui uma identidade, um estado e um comportamento.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85763" y="2189559"/>
            <a:ext cx="3814763" cy="24645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(</a:t>
            </a:r>
            <a:r>
              <a:rPr lang="en-US" sz="14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5763" y="2507456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São as características ou dados que o objeto armazena em um determinado momento.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5763" y="3150394"/>
            <a:ext cx="3814763" cy="24645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 (</a:t>
            </a:r>
            <a:r>
              <a:rPr lang="en-US" sz="14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Métodos</a:t>
            </a: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5763" y="3468291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São as ações ou funcionalidades que o objeto pode realizar.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86275" y="1243013"/>
            <a:ext cx="4271963" cy="38719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33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14875" y="1457325"/>
            <a:ext cx="38290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Analogia: O Objeto "Carro"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213" y="1796653"/>
            <a:ext cx="714375" cy="7143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14875" y="2653903"/>
            <a:ext cx="1843088" cy="882253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5" name="Text 11"/>
          <p:cNvSpPr/>
          <p:nvPr/>
        </p:nvSpPr>
        <p:spPr>
          <a:xfrm>
            <a:off x="4822031" y="2761059"/>
            <a:ext cx="16287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822031" y="2978944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Cor: Azul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822031" y="3128963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Modelo: Sedan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822031" y="3278981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Velocidade: 80km/h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700838" y="2653903"/>
            <a:ext cx="1843088" cy="882253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0" name="Text 16"/>
          <p:cNvSpPr/>
          <p:nvPr/>
        </p:nvSpPr>
        <p:spPr>
          <a:xfrm>
            <a:off x="6807994" y="2761059"/>
            <a:ext cx="16287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07994" y="2978944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Acelerar()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807994" y="3128963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Frear()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807994" y="3278981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LigarFarol()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285750"/>
            <a:ext cx="84296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Mudança de Paradigma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444823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9372" y="1428750"/>
            <a:ext cx="237903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Programação Procedural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57188" y="1803797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Foco em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procedimentos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funções.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57188" y="2110978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Dados e funções são entidades separadas.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57188" y="2418159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Fluxo de execução linear e passo a passo.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7188" y="2725341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Dificuldade em manter sistemas complexos.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444823"/>
            <a:ext cx="225028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61372" y="1428750"/>
            <a:ext cx="323477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Programação Orientada a Objetos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929188" y="1803797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Foco em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interações.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929188" y="2110978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Dados e comportamentos agrupados (Objetos).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929188" y="2418159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Representação mais fiel ao mundo real.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929188" y="2725341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Alta manutenibilidade e reuso de código.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0759" y="4025503"/>
            <a:ext cx="1682074" cy="371475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0759" y="4025503"/>
            <a:ext cx="1682074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042499" y="4025503"/>
            <a:ext cx="3510428" cy="371475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042499" y="4025503"/>
            <a:ext cx="3510428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Procedural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552926" y="4025503"/>
            <a:ext cx="3230314" cy="371475"/>
          </a:xfrm>
          <a:prstGeom prst="rect">
            <a:avLst/>
          </a:prstGeom>
          <a:solidFill>
            <a:srgbClr val="F4F4F4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552926" y="4025503"/>
            <a:ext cx="3230314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1488" y="4507706"/>
            <a:ext cx="8503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 Base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2042499" y="4396978"/>
            <a:ext cx="3510428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Função / Procedimento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552926" y="4396978"/>
            <a:ext cx="3230314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 / Classe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71488" y="4879181"/>
            <a:ext cx="39301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042499" y="4768453"/>
            <a:ext cx="3510428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Globais ou passados entre funções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5552926" y="4768453"/>
            <a:ext cx="3230314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Encapsulados dentro de objetos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1514" y="1052699"/>
            <a:ext cx="420091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D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DA PARTE 1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1357313" y="1799220"/>
            <a:ext cx="3107531" cy="770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57313" y="1799220"/>
            <a:ext cx="28575" cy="770744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6" name="Text 3"/>
          <p:cNvSpPr/>
          <p:nvPr/>
        </p:nvSpPr>
        <p:spPr>
          <a:xfrm>
            <a:off x="1500188" y="1942095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e Classes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00188" y="2209986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Entendemos a relação entre o molde (Classe) e a entidade real (Objeto).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79156" y="1799220"/>
            <a:ext cx="3107531" cy="770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79156" y="1799220"/>
            <a:ext cx="28575" cy="770744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0" name="Text 7"/>
          <p:cNvSpPr/>
          <p:nvPr/>
        </p:nvSpPr>
        <p:spPr>
          <a:xfrm>
            <a:off x="4822031" y="1942095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e Comportamento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22031" y="2209986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Atributos guardam dados e Métodos definem as ações dos objetos.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357313" y="2784277"/>
            <a:ext cx="3107531" cy="770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357313" y="2784277"/>
            <a:ext cx="28575" cy="770744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4" name="Text 11"/>
          <p:cNvSpPr/>
          <p:nvPr/>
        </p:nvSpPr>
        <p:spPr>
          <a:xfrm>
            <a:off x="1500188" y="2927152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Instanciação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00188" y="3195042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processo de criar objetos na memória usando o operador 'new'.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79156" y="2784277"/>
            <a:ext cx="3107531" cy="770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79156" y="2784277"/>
            <a:ext cx="28575" cy="770744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8" name="Text 15"/>
          <p:cNvSpPr/>
          <p:nvPr/>
        </p:nvSpPr>
        <p:spPr>
          <a:xfrm>
            <a:off x="4822031" y="2927152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Encapsulamento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22031" y="3195042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proteção dos dados internos através de modificadores de acesso.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364860" y="3912208"/>
            <a:ext cx="441422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00D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Prepare-se para a Parte 2: Herança, Polimorfismo e Abstração!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2026-08-17T22:09:52Z</dcterms:created>
  <dcterms:modified xsi:type="dcterms:W3CDTF">2026-08-17T22:09:52Z</dcterms:modified>
</cp:coreProperties>
</file>