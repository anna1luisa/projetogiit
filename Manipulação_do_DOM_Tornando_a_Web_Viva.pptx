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753666"/>
          </a:xfrm>
          <a:prstGeom prst="rect">
            <a:avLst/>
          </a:prstGeom>
          <a:solidFill>
            <a:srgbClr val="C678DD"/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767953"/>
            <a:ext cx="9086850" cy="14288"/>
          </a:xfrm>
          <a:prstGeom prst="rect">
            <a:avLst/>
          </a:prstGeom>
          <a:solidFill>
            <a:srgbClr val="C678DD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14325"/>
            <a:ext cx="85153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É O DOM?</a:t>
            </a:r>
            <a:endParaRPr lang="en-US" sz="2850" dirty="0"/>
          </a:p>
        </p:txBody>
      </p:sp>
      <p:sp>
        <p:nvSpPr>
          <p:cNvPr id="6" name="Shape 3"/>
          <p:cNvSpPr/>
          <p:nvPr/>
        </p:nvSpPr>
        <p:spPr>
          <a:xfrm>
            <a:off x="385763" y="1053703"/>
            <a:ext cx="2303525" cy="221456"/>
          </a:xfrm>
          <a:prstGeom prst="rect">
            <a:avLst/>
          </a:prstGeom>
          <a:solidFill>
            <a:srgbClr val="56B6C2"/>
          </a:solidFill>
          <a:ln/>
        </p:spPr>
      </p:sp>
      <p:sp>
        <p:nvSpPr>
          <p:cNvPr id="7" name="Text 4"/>
          <p:cNvSpPr/>
          <p:nvPr/>
        </p:nvSpPr>
        <p:spPr>
          <a:xfrm>
            <a:off x="385763" y="1053703"/>
            <a:ext cx="2303525" cy="221456"/>
          </a:xfrm>
          <a:prstGeom prst="rect">
            <a:avLst/>
          </a:prstGeom>
          <a:noFill/>
          <a:ln/>
        </p:spPr>
        <p:txBody>
          <a:bodyPr wrap="square" lIns="85090" tIns="17018" rIns="85090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 Object Model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5763" y="1510903"/>
            <a:ext cx="38147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DOM é uma interface que representa documentos HTML como 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estrutura de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árvore de nós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85763" y="2110978"/>
            <a:ext cx="38147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elemento, atributo e texto torna-se um objeto que o JavaScript pode acessar e manipular.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42925" y="3053953"/>
            <a:ext cx="3500438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6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 objeto principal é o 'document', ponto de entrada para toda a interação com a página."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929188" y="1496616"/>
            <a:ext cx="3829050" cy="32146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6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Hierárquica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929188" y="1975247"/>
            <a:ext cx="3829050" cy="697185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alterar o conteúdo, a estrutura e o estilo do site de forma dinâmica, sem recarregar a página.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6893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703659"/>
            <a:ext cx="9086850" cy="14288"/>
          </a:xfrm>
          <a:prstGeom prst="rect">
            <a:avLst/>
          </a:prstGeom>
          <a:solidFill>
            <a:srgbClr val="C678DD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14325"/>
            <a:ext cx="8515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SELECIONANDO ELEMENTOS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314325" y="917972"/>
            <a:ext cx="1623306" cy="207169"/>
          </a:xfrm>
          <a:prstGeom prst="rect">
            <a:avLst/>
          </a:prstGeom>
          <a:solidFill>
            <a:srgbClr val="56B6C2"/>
          </a:solidFill>
          <a:ln/>
        </p:spPr>
      </p:sp>
      <p:sp>
        <p:nvSpPr>
          <p:cNvPr id="7" name="Text 4"/>
          <p:cNvSpPr/>
          <p:nvPr/>
        </p:nvSpPr>
        <p:spPr>
          <a:xfrm>
            <a:off x="314325" y="917972"/>
            <a:ext cx="1623306" cy="20716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getElementById()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14325" y="1239441"/>
            <a:ext cx="3957638" cy="195728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BB2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 um único elemento pelo seu ID único.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14325" y="1578043"/>
            <a:ext cx="1529042" cy="207169"/>
          </a:xfrm>
          <a:prstGeom prst="rect">
            <a:avLst/>
          </a:prstGeom>
          <a:solidFill>
            <a:srgbClr val="56B6C2"/>
          </a:solidFill>
          <a:ln/>
        </p:spPr>
      </p:sp>
      <p:sp>
        <p:nvSpPr>
          <p:cNvPr id="10" name="Text 7"/>
          <p:cNvSpPr/>
          <p:nvPr/>
        </p:nvSpPr>
        <p:spPr>
          <a:xfrm>
            <a:off x="314325" y="1578043"/>
            <a:ext cx="1529042" cy="20716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querySelector()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4325" y="1899512"/>
            <a:ext cx="3957638" cy="195728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BB2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Retorna o primeiro elemento que coincide com o seletor CSS.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14325" y="2238115"/>
            <a:ext cx="1811945" cy="207169"/>
          </a:xfrm>
          <a:prstGeom prst="rect">
            <a:avLst/>
          </a:prstGeom>
          <a:solidFill>
            <a:srgbClr val="56B6C2"/>
          </a:solidFill>
          <a:ln/>
        </p:spPr>
      </p:sp>
      <p:sp>
        <p:nvSpPr>
          <p:cNvPr id="13" name="Text 10"/>
          <p:cNvSpPr/>
          <p:nvPr/>
        </p:nvSpPr>
        <p:spPr>
          <a:xfrm>
            <a:off x="314325" y="2238115"/>
            <a:ext cx="1811945" cy="20716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querySelectorAll()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14325" y="2559583"/>
            <a:ext cx="3957638" cy="195728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BB2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Retorna todos os elementos que coincidem (NodeList).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857750" y="1060847"/>
            <a:ext cx="397192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Exemplos Práticos: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857750" y="1328738"/>
            <a:ext cx="3971925" cy="1848501"/>
          </a:xfrm>
          <a:prstGeom prst="rect">
            <a:avLst/>
          </a:prstGeom>
          <a:solidFill>
            <a:srgbClr val="282C34"/>
          </a:solidFill>
          <a:ln w="9144">
            <a:solidFill>
              <a:srgbClr val="C678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57750" y="1328738"/>
            <a:ext cx="3971925" cy="184850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titulo = document.getElementById(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"main-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title"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botoes = document.querySelectorAll(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".btn-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click"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i="1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Seleção versátil (CSS)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item = document.querySelector(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"ul 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li:first-child"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857750" y="3698732"/>
            <a:ext cx="397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BB2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Dica: Prefira `querySelector` pela sua flexibilidade, mas use `getElementById` quando a performance for crítica em IDs específicos.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6893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703659"/>
            <a:ext cx="9086850" cy="14288"/>
          </a:xfrm>
          <a:prstGeom prst="rect">
            <a:avLst/>
          </a:prstGeom>
          <a:solidFill>
            <a:srgbClr val="C678DD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14325"/>
            <a:ext cx="8515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CONTEÚDO E ATRIBUTOS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314325" y="917972"/>
            <a:ext cx="2172035" cy="189309"/>
          </a:xfrm>
          <a:prstGeom prst="rect">
            <a:avLst/>
          </a:prstGeom>
          <a:solidFill>
            <a:srgbClr val="56B6C2"/>
          </a:solidFill>
          <a:ln/>
        </p:spPr>
      </p:sp>
      <p:sp>
        <p:nvSpPr>
          <p:cNvPr id="7" name="Text 4"/>
          <p:cNvSpPr/>
          <p:nvPr/>
        </p:nvSpPr>
        <p:spPr>
          <a:xfrm>
            <a:off x="314325" y="917972"/>
            <a:ext cx="2172035" cy="18930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 vs innerHTML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14325" y="1293019"/>
            <a:ext cx="39576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textContent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texto puro e </a:t>
            </a: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innerHTML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quando precisar inserir tags 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14325" y="1727336"/>
            <a:ext cx="3957638" cy="588578"/>
          </a:xfrm>
          <a:prstGeom prst="rect">
            <a:avLst/>
          </a:prstGeom>
          <a:solidFill>
            <a:srgbClr val="282C34"/>
          </a:solidFill>
          <a:ln w="9144">
            <a:solidFill>
              <a:srgbClr val="C678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4325" y="1727336"/>
            <a:ext cx="3957638" cy="5885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el.textContent = 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"Novo Texto"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el.innerHTML = 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"&lt;b&gt;Negrito&lt;/b&gt;"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4325" y="2515939"/>
            <a:ext cx="3957638" cy="407194"/>
          </a:xfrm>
          <a:prstGeom prst="rect">
            <a:avLst/>
          </a:prstGeom>
          <a:solidFill>
            <a:srgbClr val="C678DD"/>
          </a:solidFill>
          <a:ln/>
        </p:spPr>
      </p:sp>
      <p:sp>
        <p:nvSpPr>
          <p:cNvPr id="12" name="Text 9"/>
          <p:cNvSpPr/>
          <p:nvPr/>
        </p:nvSpPr>
        <p:spPr>
          <a:xfrm>
            <a:off x="314325" y="2515939"/>
            <a:ext cx="3957638" cy="40719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1E2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Segurança: Evite innerHTML com dados de usuários para prevenir ataques XSS.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857750" y="917972"/>
            <a:ext cx="2086310" cy="189309"/>
          </a:xfrm>
          <a:prstGeom prst="rect">
            <a:avLst/>
          </a:prstGeom>
          <a:solidFill>
            <a:srgbClr val="56B6C2"/>
          </a:solidFill>
          <a:ln/>
        </p:spPr>
      </p:sp>
      <p:sp>
        <p:nvSpPr>
          <p:cNvPr id="14" name="Text 11"/>
          <p:cNvSpPr/>
          <p:nvPr/>
        </p:nvSpPr>
        <p:spPr>
          <a:xfrm>
            <a:off x="4857750" y="917972"/>
            <a:ext cx="2086310" cy="18930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Atributos e Formulários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57750" y="1293019"/>
            <a:ext cx="39719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Manipule links, imagens e valores de campos de entrada.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857750" y="1567328"/>
            <a:ext cx="3971925" cy="588578"/>
          </a:xfrm>
          <a:prstGeom prst="rect">
            <a:avLst/>
          </a:prstGeom>
          <a:solidFill>
            <a:srgbClr val="282C34"/>
          </a:solidFill>
          <a:ln w="9144">
            <a:solidFill>
              <a:srgbClr val="C678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57750" y="1567328"/>
            <a:ext cx="3971925" cy="5885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img.setAttribute(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"src"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"foto.jpg"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valor = input.value;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857750" y="2684543"/>
            <a:ext cx="39719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BB2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Alterar o conteúdo em tempo real permite criar interfaces que reagem instantaneamente às ações do usuário.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6893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703659"/>
            <a:ext cx="9086850" cy="14288"/>
          </a:xfrm>
          <a:prstGeom prst="rect">
            <a:avLst/>
          </a:prstGeom>
          <a:solidFill>
            <a:srgbClr val="C678DD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14325"/>
            <a:ext cx="8515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ESTILIZAÇÃO DINÂMICA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314325" y="917972"/>
            <a:ext cx="1717625" cy="207169"/>
          </a:xfrm>
          <a:prstGeom prst="rect">
            <a:avLst/>
          </a:prstGeom>
          <a:solidFill>
            <a:srgbClr val="56B6C2"/>
          </a:solidFill>
          <a:ln/>
        </p:spPr>
      </p:sp>
      <p:sp>
        <p:nvSpPr>
          <p:cNvPr id="7" name="Text 4"/>
          <p:cNvSpPr/>
          <p:nvPr/>
        </p:nvSpPr>
        <p:spPr>
          <a:xfrm>
            <a:off x="314325" y="917972"/>
            <a:ext cx="1717625" cy="20716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Propriedade style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14325" y="1310878"/>
            <a:ext cx="395763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Altera estilos CSS diretamente no elemento (inline).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14325" y="1585187"/>
            <a:ext cx="3957638" cy="588578"/>
          </a:xfrm>
          <a:prstGeom prst="rect">
            <a:avLst/>
          </a:prstGeom>
          <a:solidFill>
            <a:srgbClr val="282C34"/>
          </a:solidFill>
          <a:ln w="9144">
            <a:solidFill>
              <a:srgbClr val="C678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4325" y="1585187"/>
            <a:ext cx="3957638" cy="5885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el.style.color = 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"red"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el.style.backgroundColor = 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"#000"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4325" y="2373790"/>
            <a:ext cx="3957638" cy="407194"/>
          </a:xfrm>
          <a:prstGeom prst="rect">
            <a:avLst/>
          </a:prstGeom>
          <a:solidFill>
            <a:srgbClr val="56B6C2"/>
          </a:solidFill>
          <a:ln/>
        </p:spPr>
      </p:sp>
      <p:sp>
        <p:nvSpPr>
          <p:cNvPr id="12" name="Text 9"/>
          <p:cNvSpPr/>
          <p:nvPr/>
        </p:nvSpPr>
        <p:spPr>
          <a:xfrm>
            <a:off x="314325" y="2373790"/>
            <a:ext cx="3957638" cy="40719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1E2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Dica: Use camelCase para propriedades CSS com hífen (ex: backgroundColor).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857750" y="917972"/>
            <a:ext cx="1623306" cy="207169"/>
          </a:xfrm>
          <a:prstGeom prst="rect">
            <a:avLst/>
          </a:prstGeom>
          <a:solidFill>
            <a:srgbClr val="56B6C2"/>
          </a:solidFill>
          <a:ln/>
        </p:spPr>
      </p:sp>
      <p:sp>
        <p:nvSpPr>
          <p:cNvPr id="14" name="Text 11"/>
          <p:cNvSpPr/>
          <p:nvPr/>
        </p:nvSpPr>
        <p:spPr>
          <a:xfrm>
            <a:off x="4857750" y="917972"/>
            <a:ext cx="1623306" cy="20716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 classList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57750" y="1310878"/>
            <a:ext cx="39719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melhor prática: gerencie classes pré-definidas no CSS.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857750" y="1585187"/>
            <a:ext cx="3971925" cy="768567"/>
          </a:xfrm>
          <a:prstGeom prst="rect">
            <a:avLst/>
          </a:prstGeom>
          <a:solidFill>
            <a:srgbClr val="282C34"/>
          </a:solidFill>
          <a:ln w="9144">
            <a:solidFill>
              <a:srgbClr val="C678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57750" y="1585187"/>
            <a:ext cx="3971925" cy="76856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el.classList.</a:t>
            </a: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"ativo"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el.classList.</a:t>
            </a: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"escondido"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el.classList.</a:t>
            </a: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toggle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"dark-mode"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857750" y="2882392"/>
            <a:ext cx="39719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BB2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Manipular classes mantém o design separado da lógica, facilitando a manutenção do projeto.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6893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703659"/>
            <a:ext cx="9086850" cy="14288"/>
          </a:xfrm>
          <a:prstGeom prst="rect">
            <a:avLst/>
          </a:prstGeom>
          <a:solidFill>
            <a:srgbClr val="C678DD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14325"/>
            <a:ext cx="8515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EVENTOS E INTERATIVIDADE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314325" y="917972"/>
            <a:ext cx="1811945" cy="207169"/>
          </a:xfrm>
          <a:prstGeom prst="rect">
            <a:avLst/>
          </a:prstGeom>
          <a:solidFill>
            <a:srgbClr val="56B6C2"/>
          </a:solidFill>
          <a:ln/>
        </p:spPr>
      </p:sp>
      <p:sp>
        <p:nvSpPr>
          <p:cNvPr id="7" name="Text 4"/>
          <p:cNvSpPr/>
          <p:nvPr/>
        </p:nvSpPr>
        <p:spPr>
          <a:xfrm>
            <a:off x="314325" y="917972"/>
            <a:ext cx="1811945" cy="20716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addEventListener()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14325" y="1268016"/>
            <a:ext cx="39576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método moderno para "ouvir" ações do usuário e executar funções em resposta.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14325" y="1842306"/>
            <a:ext cx="395763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78D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Tipos Comuns: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14325" y="2145916"/>
            <a:ext cx="1943100" cy="196453"/>
          </a:xfrm>
          <a:prstGeom prst="rect">
            <a:avLst/>
          </a:prstGeom>
          <a:noFill/>
          <a:ln/>
        </p:spPr>
        <p:txBody>
          <a:bodyPr wrap="square" lIns="85090" tIns="42545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6B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328863" y="2145916"/>
            <a:ext cx="1943100" cy="196453"/>
          </a:xfrm>
          <a:prstGeom prst="rect">
            <a:avLst/>
          </a:prstGeom>
          <a:noFill/>
          <a:ln/>
        </p:spPr>
        <p:txBody>
          <a:bodyPr wrap="square" lIns="85090" tIns="42545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6B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14325" y="2413806"/>
            <a:ext cx="1943100" cy="196453"/>
          </a:xfrm>
          <a:prstGeom prst="rect">
            <a:avLst/>
          </a:prstGeom>
          <a:noFill/>
          <a:ln/>
        </p:spPr>
        <p:txBody>
          <a:bodyPr wrap="square" lIns="85090" tIns="42545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6B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328863" y="2413806"/>
            <a:ext cx="1943100" cy="196453"/>
          </a:xfrm>
          <a:prstGeom prst="rect">
            <a:avLst/>
          </a:prstGeom>
          <a:noFill/>
          <a:ln/>
        </p:spPr>
        <p:txBody>
          <a:bodyPr wrap="square" lIns="85090" tIns="42545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6B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mouseover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14325" y="2681697"/>
            <a:ext cx="1943100" cy="196453"/>
          </a:xfrm>
          <a:prstGeom prst="rect">
            <a:avLst/>
          </a:prstGeom>
          <a:noFill/>
          <a:ln/>
        </p:spPr>
        <p:txBody>
          <a:bodyPr wrap="square" lIns="85090" tIns="42545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6B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keydown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328863" y="2681697"/>
            <a:ext cx="1943100" cy="196453"/>
          </a:xfrm>
          <a:prstGeom prst="rect">
            <a:avLst/>
          </a:prstGeom>
          <a:noFill/>
          <a:ln/>
        </p:spPr>
        <p:txBody>
          <a:bodyPr wrap="square" lIns="85090" tIns="42545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6B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857750" y="1060847"/>
            <a:ext cx="397192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 de Uso: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57750" y="1328738"/>
            <a:ext cx="3971925" cy="1308534"/>
          </a:xfrm>
          <a:prstGeom prst="rect">
            <a:avLst/>
          </a:prstGeom>
          <a:solidFill>
            <a:srgbClr val="282C34"/>
          </a:solidFill>
          <a:ln w="9144">
            <a:solidFill>
              <a:srgbClr val="C678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57750" y="1328738"/>
            <a:ext cx="3971925" cy="130853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btn = document.querySelector(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".btn"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btn.addEventListener(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</a:t>
            </a: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"Botão clicado!"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</a:t>
            </a: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.target);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857750" y="3173053"/>
            <a:ext cx="39719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BB2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objeto </a:t>
            </a:r>
            <a:r>
              <a:rPr lang="en-US" sz="800" b="1" dirty="0">
                <a:solidFill>
                  <a:srgbClr val="ABB2B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event</a:t>
            </a:r>
            <a:r>
              <a:rPr lang="en-US" sz="850" dirty="0">
                <a:solidFill>
                  <a:srgbClr val="ABB2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contém detalhes valiosos sobre a ação, como a posição do </a:t>
            </a:r>
            <a:r>
              <a:rPr lang="en-US" sz="850" dirty="0">
                <a:solidFill>
                  <a:srgbClr val="ABB2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mouse ou a tecla pressionada.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689372"/>
          </a:xfrm>
          <a:prstGeom prst="rect">
            <a:avLst/>
          </a:prstGeom>
          <a:solidFill>
            <a:srgbClr val="C678DD"/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703659"/>
            <a:ext cx="9086850" cy="14288"/>
          </a:xfrm>
          <a:prstGeom prst="rect">
            <a:avLst/>
          </a:prstGeom>
          <a:solidFill>
            <a:srgbClr val="C678DD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14325"/>
            <a:ext cx="8515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CRIANDO E REMOVENDO ELEMENTOS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314325" y="917972"/>
            <a:ext cx="1529042" cy="207169"/>
          </a:xfrm>
          <a:prstGeom prst="rect">
            <a:avLst/>
          </a:prstGeom>
          <a:solidFill>
            <a:srgbClr val="56B6C2"/>
          </a:solidFill>
          <a:ln/>
        </p:spPr>
      </p:sp>
      <p:sp>
        <p:nvSpPr>
          <p:cNvPr id="7" name="Text 4"/>
          <p:cNvSpPr/>
          <p:nvPr/>
        </p:nvSpPr>
        <p:spPr>
          <a:xfrm>
            <a:off x="314325" y="917972"/>
            <a:ext cx="1529042" cy="20716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createElement()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14325" y="1325166"/>
            <a:ext cx="395763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 um novo nó de elemento HTML na memória do navegador.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4325" y="1683748"/>
            <a:ext cx="1340402" cy="207169"/>
          </a:xfrm>
          <a:prstGeom prst="rect">
            <a:avLst/>
          </a:prstGeom>
          <a:solidFill>
            <a:srgbClr val="56B6C2"/>
          </a:solidFill>
          <a:ln/>
        </p:spPr>
      </p:sp>
      <p:sp>
        <p:nvSpPr>
          <p:cNvPr id="10" name="Text 7"/>
          <p:cNvSpPr/>
          <p:nvPr/>
        </p:nvSpPr>
        <p:spPr>
          <a:xfrm>
            <a:off x="314325" y="1683748"/>
            <a:ext cx="1340402" cy="20716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appendChild()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4325" y="2090942"/>
            <a:ext cx="395763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Insere um nó como o último filho de um elemento pai específico.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4325" y="2449525"/>
            <a:ext cx="868803" cy="207169"/>
          </a:xfrm>
          <a:prstGeom prst="rect">
            <a:avLst/>
          </a:prstGeom>
          <a:solidFill>
            <a:srgbClr val="56B6C2"/>
          </a:solidFill>
          <a:ln/>
        </p:spPr>
      </p:sp>
      <p:sp>
        <p:nvSpPr>
          <p:cNvPr id="13" name="Text 10"/>
          <p:cNvSpPr/>
          <p:nvPr/>
        </p:nvSpPr>
        <p:spPr>
          <a:xfrm>
            <a:off x="314325" y="2449525"/>
            <a:ext cx="868803" cy="207169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remove()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14325" y="2856719"/>
            <a:ext cx="395763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o elemento selecionado diretamente do documento.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14325" y="3251020"/>
            <a:ext cx="3957638" cy="557213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16" name="Shape 13"/>
          <p:cNvSpPr/>
          <p:nvPr/>
        </p:nvSpPr>
        <p:spPr>
          <a:xfrm>
            <a:off x="314325" y="3251020"/>
            <a:ext cx="35719" cy="557213"/>
          </a:xfrm>
          <a:prstGeom prst="rect">
            <a:avLst/>
          </a:prstGeom>
          <a:solidFill>
            <a:srgbClr val="56B6C2"/>
          </a:solidFill>
          <a:ln/>
        </p:spPr>
      </p:sp>
      <p:sp>
        <p:nvSpPr>
          <p:cNvPr id="17" name="Text 14"/>
          <p:cNvSpPr/>
          <p:nvPr/>
        </p:nvSpPr>
        <p:spPr>
          <a:xfrm>
            <a:off x="314325" y="3251020"/>
            <a:ext cx="3957638" cy="55721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capacidade de gerar conteúdo dinamicamente permite criar listas infinitas, modais e notificações sem HTML estático.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857750" y="1060847"/>
            <a:ext cx="397192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de Criação: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857750" y="1293019"/>
            <a:ext cx="3971925" cy="1379972"/>
          </a:xfrm>
          <a:prstGeom prst="rect">
            <a:avLst/>
          </a:prstGeom>
          <a:solidFill>
            <a:srgbClr val="282C34"/>
          </a:solidFill>
          <a:ln w="9144">
            <a:solidFill>
              <a:srgbClr val="C678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57750" y="1293019"/>
            <a:ext cx="3971925" cy="137997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novoItem = document.</a:t>
            </a: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"li"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novoItem.textContent = 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"Novo Item"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novoItem.classList.</a:t>
            </a: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"ativo"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67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lista = document.</a:t>
            </a: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"ul"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lista.</a:t>
            </a:r>
            <a:r>
              <a:rPr lang="en-US" sz="95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appendChild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(novoItem);</a:t>
            </a:r>
            <a:endParaRPr lang="en-US" sz="9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140" y="2962312"/>
            <a:ext cx="375047" cy="428625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162" y="3116963"/>
            <a:ext cx="187523" cy="214313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660" y="2962312"/>
            <a:ext cx="428625" cy="428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2026-08-17T22:15:57Z</dcterms:created>
  <dcterms:modified xsi:type="dcterms:W3CDTF">2026-08-17T22:15:57Z</dcterms:modified>
</cp:coreProperties>
</file>