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375" y="758298"/>
            <a:ext cx="1814513" cy="271463"/>
          </a:xfrm>
          <a:prstGeom prst="roundRect">
            <a:avLst/>
          </a:prstGeom>
          <a:solidFill>
            <a:srgbClr val="00F5FF"/>
          </a:solidFill>
          <a:ln/>
        </p:spPr>
      </p:sp>
      <p:sp>
        <p:nvSpPr>
          <p:cNvPr id="4" name="Text 1"/>
          <p:cNvSpPr/>
          <p:nvPr/>
        </p:nvSpPr>
        <p:spPr>
          <a:xfrm>
            <a:off x="714375" y="758298"/>
            <a:ext cx="1814513" cy="271463"/>
          </a:xfrm>
          <a:prstGeom prst="rect">
            <a:avLst/>
          </a:prstGeom>
          <a:noFill/>
          <a:ln/>
        </p:spPr>
        <p:txBody>
          <a:bodyPr wrap="square" lIns="170053" tIns="68072" rIns="170053" bIns="68072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2" kern="0" dirty="0">
                <a:solidFill>
                  <a:srgbClr val="1A0B2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CURSO JAVASCRIPT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4375" y="1244073"/>
            <a:ext cx="4772025" cy="1980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35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A Jornada da</a:t>
            </a:r>
            <a:r>
              <a:rPr lang="en-US" sz="4350" b="1" dirty="0">
                <a:solidFill>
                  <a:srgbClr val="00F5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
</a:t>
            </a:r>
            <a:r>
              <a:rPr lang="en-US" sz="435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Orientação a </a:t>
            </a:r>
            <a:r>
              <a:rPr lang="en-US" sz="435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Objetos</a:t>
            </a:r>
            <a:endParaRPr lang="en-US" sz="4350" dirty="0"/>
          </a:p>
        </p:txBody>
      </p:sp>
      <p:sp>
        <p:nvSpPr>
          <p:cNvPr id="6" name="Text 3"/>
          <p:cNvSpPr/>
          <p:nvPr/>
        </p:nvSpPr>
        <p:spPr>
          <a:xfrm>
            <a:off x="714375" y="3367162"/>
            <a:ext cx="477202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Domine classes, herança e polimorfismo para criar softwares escaláveis e modulares.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14375" y="4210124"/>
            <a:ext cx="4772025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F5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Instrutor: Manus AI</a:t>
            </a:r>
            <a:endParaRPr lang="en-US" sz="1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0059" y="1571625"/>
            <a:ext cx="2250281" cy="20002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spc="2" kern="0" dirty="0">
                <a:solidFill>
                  <a:srgbClr val="00F5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O QUE É PROGRAMAÇÃO ORIENTADA A OBJETOS?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685925"/>
            <a:ext cx="4543425" cy="1280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 um paradigma de programação baseado no </a:t>
            </a: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conceito de </a:t>
            </a:r>
            <a:r>
              <a:rPr lang="en-US" sz="1400" b="1" dirty="0">
                <a:solidFill>
                  <a:srgbClr val="FFFFFF">
                    <a:alpha val="9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"objetos"</a:t>
            </a: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que podem conter </a:t>
            </a: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dados e códigos: dados na forma de campos e </a:t>
            </a: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códigos na forma de procedimentos.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71500" y="3180308"/>
            <a:ext cx="4543425" cy="1568053"/>
          </a:xfrm>
          <a:prstGeom prst="rect">
            <a:avLst/>
          </a:prstGeom>
          <a:solidFill>
            <a:srgbClr val="00F5FF">
              <a:alpha val="5000"/>
            </a:srgbClr>
          </a:solidFill>
          <a:ln w="18288">
            <a:solidFill>
              <a:srgbClr val="00F5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5813" y="3394621"/>
            <a:ext cx="4114800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F5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Por que usar POO?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3" y="3744664"/>
            <a:ext cx="128588" cy="1285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21556" y="3712518"/>
            <a:ext cx="112156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Modularidade: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2143125" y="3712518"/>
            <a:ext cx="2450306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Facilita a manutenção do código.</a:t>
            </a:r>
            <a:endParaRPr lang="en-US" sz="11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813" y="4008983"/>
            <a:ext cx="128588" cy="1285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21556" y="3976836"/>
            <a:ext cx="99298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Reutilização: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2014538" y="3976836"/>
            <a:ext cx="2003822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Evita a repetição de lógica.</a:t>
            </a:r>
            <a:endParaRPr lang="en-US" sz="11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4273302"/>
            <a:ext cx="128588" cy="12858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21556" y="4241155"/>
            <a:ext cx="85367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Abstração: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1875234" y="4241155"/>
            <a:ext cx="2943225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Modela o mundo real de forma simples.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5629275" y="1881262"/>
            <a:ext cx="2857500" cy="2500313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00F5FF">
                <a:alpha val="30000"/>
              </a:srgbClr>
            </a:solidFill>
            <a:prstDash val="dash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2552774"/>
            <a:ext cx="857250" cy="85725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798939" y="3552899"/>
            <a:ext cx="2518172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>
                    <a:alpha val="5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OBJETO = DADOS + COMPORTAMENTO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0F5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CLASSES VS. OBJETOS: O MOLDE E A INSTÂNCIA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200150"/>
            <a:ext cx="3857625" cy="3214688"/>
          </a:xfrm>
          <a:prstGeom prst="rect">
            <a:avLst/>
          </a:prstGeom>
          <a:solidFill>
            <a:srgbClr val="FFFFFF">
              <a:alpha val="2000"/>
            </a:srgbClr>
          </a:solidFill>
          <a:ln w="18288">
            <a:solidFill>
              <a:srgbClr val="00F5FF">
                <a:alpha val="30000"/>
              </a:srgbClr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3" y="1437680"/>
            <a:ext cx="22860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21569" y="1414463"/>
            <a:ext cx="1671638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F5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Classe (Molde)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785813" y="1832372"/>
            <a:ext cx="342900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classe é a definição abstrata. Ela descreve quais propriedades e métodos o objeto terá, mas não contém dados reais.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785813" y="2653903"/>
            <a:ext cx="3429000" cy="800100"/>
          </a:xfrm>
          <a:prstGeom prst="rect">
            <a:avLst/>
          </a:prstGeom>
          <a:solidFill>
            <a:srgbClr val="0D0617"/>
          </a:solidFill>
          <a:ln/>
        </p:spPr>
      </p:sp>
      <p:sp>
        <p:nvSpPr>
          <p:cNvPr id="9" name="Shape 5"/>
          <p:cNvSpPr/>
          <p:nvPr/>
        </p:nvSpPr>
        <p:spPr>
          <a:xfrm>
            <a:off x="785813" y="2653903"/>
            <a:ext cx="28575" cy="800100"/>
          </a:xfrm>
          <a:prstGeom prst="rect">
            <a:avLst/>
          </a:prstGeom>
          <a:solidFill>
            <a:srgbClr val="00F5FF"/>
          </a:solidFill>
          <a:ln/>
        </p:spPr>
      </p:sp>
      <p:sp>
        <p:nvSpPr>
          <p:cNvPr id="10" name="Text 6"/>
          <p:cNvSpPr/>
          <p:nvPr/>
        </p:nvSpPr>
        <p:spPr>
          <a:xfrm>
            <a:off x="785813" y="2653903"/>
            <a:ext cx="3429000" cy="80010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678D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class</a:t>
            </a:r>
            <a:r>
              <a:rPr lang="en-US" sz="9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950" dirty="0">
                <a:solidFill>
                  <a:srgbClr val="E5C07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Carro</a:t>
            </a:r>
            <a:r>
              <a:rPr lang="en-US" sz="9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{</a:t>
            </a:r>
            <a:r>
              <a:rPr lang="en-US" sz="9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950" dirty="0">
                <a:solidFill>
                  <a:srgbClr val="5C637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// Atributos e métodos aqui</a:t>
            </a:r>
            <a:r>
              <a:rPr lang="en-US" sz="9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9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}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4714875" y="1200150"/>
            <a:ext cx="3857625" cy="3214688"/>
          </a:xfrm>
          <a:prstGeom prst="rect">
            <a:avLst/>
          </a:prstGeom>
          <a:solidFill>
            <a:srgbClr val="FFFFFF">
              <a:alpha val="2000"/>
            </a:srgbClr>
          </a:solidFill>
          <a:ln w="18288">
            <a:solidFill>
              <a:srgbClr val="00F5FF">
                <a:alpha val="30000"/>
              </a:srgbClr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9188" y="1437680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264944" y="1414463"/>
            <a:ext cx="1978819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F5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Objeto (Instância)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929188" y="1832372"/>
            <a:ext cx="342900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objeto é a realização da classe. É criado na </a:t>
            </a: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memória com dados específicos usando a </a:t>
            </a: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palavra-chave </a:t>
            </a:r>
            <a:r>
              <a:rPr lang="en-US" sz="1000" b="1" dirty="0">
                <a:solidFill>
                  <a:srgbClr val="FFFFFF">
                    <a:alpha val="8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new</a:t>
            </a: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4929188" y="2653903"/>
            <a:ext cx="3429000" cy="628650"/>
          </a:xfrm>
          <a:prstGeom prst="rect">
            <a:avLst/>
          </a:prstGeom>
          <a:solidFill>
            <a:srgbClr val="0D0617"/>
          </a:solidFill>
          <a:ln/>
        </p:spPr>
      </p:sp>
      <p:sp>
        <p:nvSpPr>
          <p:cNvPr id="16" name="Shape 11"/>
          <p:cNvSpPr/>
          <p:nvPr/>
        </p:nvSpPr>
        <p:spPr>
          <a:xfrm>
            <a:off x="4929188" y="2653903"/>
            <a:ext cx="28575" cy="628650"/>
          </a:xfrm>
          <a:prstGeom prst="rect">
            <a:avLst/>
          </a:prstGeom>
          <a:solidFill>
            <a:srgbClr val="00F5FF"/>
          </a:solidFill>
          <a:ln/>
        </p:spPr>
      </p:sp>
      <p:sp>
        <p:nvSpPr>
          <p:cNvPr id="17" name="Text 12"/>
          <p:cNvSpPr/>
          <p:nvPr/>
        </p:nvSpPr>
        <p:spPr>
          <a:xfrm>
            <a:off x="4929188" y="2653903"/>
            <a:ext cx="3429000" cy="62865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678D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const</a:t>
            </a:r>
            <a:r>
              <a:rPr lang="en-US" sz="9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meuCarro = </a:t>
            </a:r>
            <a:r>
              <a:rPr lang="en-US" sz="950" dirty="0">
                <a:solidFill>
                  <a:srgbClr val="C678D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new</a:t>
            </a:r>
            <a:r>
              <a:rPr lang="en-US" sz="9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950" dirty="0">
                <a:solidFill>
                  <a:srgbClr val="E5C07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Carro</a:t>
            </a:r>
            <a:r>
              <a:rPr lang="en-US" sz="9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();</a:t>
            </a:r>
            <a:r>
              <a:rPr lang="en-US" sz="9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950" dirty="0">
                <a:solidFill>
                  <a:srgbClr val="5C637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// Agora 'meuCarro' é um objeto real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0F5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CONSTRUTORES E O MISTÉRIO DO "THIS"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200150"/>
            <a:ext cx="4204097" cy="3736181"/>
          </a:xfrm>
          <a:prstGeom prst="rect">
            <a:avLst/>
          </a:prstGeom>
          <a:solidFill>
            <a:srgbClr val="0D0617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200150"/>
            <a:ext cx="35719" cy="3736181"/>
          </a:xfrm>
          <a:prstGeom prst="rect">
            <a:avLst/>
          </a:prstGeom>
          <a:solidFill>
            <a:srgbClr val="00F5FF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200150"/>
            <a:ext cx="4204097" cy="3736181"/>
          </a:xfrm>
          <a:prstGeom prst="rect">
            <a:avLst/>
          </a:prstGeom>
          <a:noFill/>
          <a:ln/>
        </p:spPr>
        <p:txBody>
          <a:bodyPr wrap="square" lIns="255143" tIns="255143" rIns="255143" bIns="255143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678D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class</a:t>
            </a:r>
            <a:r>
              <a:rPr lang="en-US" sz="105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1050" dirty="0">
                <a:solidFill>
                  <a:srgbClr val="E5C07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Usuario</a:t>
            </a:r>
            <a:r>
              <a:rPr lang="en-US" sz="105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{</a:t>
            </a:r>
            <a:r>
              <a:rPr lang="en-US" sz="105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1050" dirty="0">
                <a:solidFill>
                  <a:srgbClr val="C678D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constructor</a:t>
            </a:r>
            <a:r>
              <a:rPr lang="en-US" sz="105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(nome, cargo) {</a:t>
            </a:r>
            <a:r>
              <a:rPr lang="en-US" sz="105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1000" b="1" dirty="0">
                <a:solidFill>
                  <a:srgbClr val="E06C75"/>
                </a:solidFill>
                <a:latin typeface="Fira Code Medium" pitchFamily="34" charset="0"/>
                <a:ea typeface="Fira Code Medium" pitchFamily="34" charset="-122"/>
                <a:cs typeface="Fira Code Medium" pitchFamily="34" charset="-120"/>
              </a:rPr>
              <a:t>this</a:t>
            </a:r>
            <a:r>
              <a:rPr lang="en-US" sz="105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.</a:t>
            </a:r>
            <a:r>
              <a:rPr lang="en-US" sz="1050" dirty="0">
                <a:solidFill>
                  <a:srgbClr val="61AFE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nome</a:t>
            </a:r>
            <a:r>
              <a:rPr lang="en-US" sz="105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= nome;</a:t>
            </a:r>
            <a:r>
              <a:rPr lang="en-US" sz="105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1000" b="1" dirty="0">
                <a:solidFill>
                  <a:srgbClr val="E06C75"/>
                </a:solidFill>
                <a:latin typeface="Fira Code Medium" pitchFamily="34" charset="0"/>
                <a:ea typeface="Fira Code Medium" pitchFamily="34" charset="-122"/>
                <a:cs typeface="Fira Code Medium" pitchFamily="34" charset="-120"/>
              </a:rPr>
              <a:t>this</a:t>
            </a:r>
            <a:r>
              <a:rPr lang="en-US" sz="105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.</a:t>
            </a:r>
            <a:r>
              <a:rPr lang="en-US" sz="1050" dirty="0">
                <a:solidFill>
                  <a:srgbClr val="61AFE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cargo</a:t>
            </a:r>
            <a:r>
              <a:rPr lang="en-US" sz="105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= cargo;</a:t>
            </a:r>
            <a:r>
              <a:rPr lang="en-US" sz="105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105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}</a:t>
            </a:r>
            <a:r>
              <a:rPr lang="en-US" sz="105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105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}</a:t>
            </a:r>
            <a:r>
              <a:rPr lang="en-US" sz="105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105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1050" dirty="0">
                <a:solidFill>
                  <a:srgbClr val="C678D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const</a:t>
            </a:r>
            <a:r>
              <a:rPr lang="en-US" sz="105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user = </a:t>
            </a:r>
            <a:r>
              <a:rPr lang="en-US" sz="1050" dirty="0">
                <a:solidFill>
                  <a:srgbClr val="C678D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new</a:t>
            </a:r>
            <a:r>
              <a:rPr lang="en-US" sz="105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1050" dirty="0">
                <a:solidFill>
                  <a:srgbClr val="E5C07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Usuario</a:t>
            </a:r>
            <a:r>
              <a:rPr lang="en-US" sz="105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</a:t>
            </a:r>
            <a:r>
              <a:rPr lang="en-US" sz="105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"Ana"</a:t>
            </a:r>
            <a:r>
              <a:rPr lang="en-US" sz="105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, </a:t>
            </a:r>
            <a:r>
              <a:rPr lang="en-US" sz="105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"Dev"</a:t>
            </a:r>
            <a:r>
              <a:rPr lang="en-US" sz="105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);</a:t>
            </a:r>
            <a:r>
              <a:rPr lang="en-US" sz="105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1050" i="1" dirty="0">
                <a:solidFill>
                  <a:srgbClr val="5C637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// 'this' agora refere-se ao objeto 'user'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132784" y="1271588"/>
            <a:ext cx="3439716" cy="1618059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00F5FF">
                <a:alpha val="20000"/>
              </a:srgb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1378" y="1469827"/>
            <a:ext cx="210741" cy="18573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29275" y="1450181"/>
            <a:ext cx="1164431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F5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 Construtor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311378" y="1782366"/>
            <a:ext cx="3082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 o método especial executado automaticamente no momento da criação do objeto. Serve para preparar o estado inicial da instância.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5132784" y="3089672"/>
            <a:ext cx="3439716" cy="1618059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00F5FF">
                <a:alpha val="20000"/>
              </a:srgbClr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1378" y="3287911"/>
            <a:ext cx="185738" cy="18573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604272" y="3268266"/>
            <a:ext cx="1439466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F5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 palavra "this"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5311378" y="3600450"/>
            <a:ext cx="3082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Funciona como um autorreferenciador. </a:t>
            </a: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Dentro da classe, </a:t>
            </a:r>
            <a:r>
              <a:rPr lang="en-US" sz="1000" b="1" dirty="0">
                <a:solidFill>
                  <a:srgbClr val="E06C7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this</a:t>
            </a: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diz: "esta </a:t>
            </a: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propriedade pertence a este objeto </a:t>
            </a: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específico que está sendo criado agora".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720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spc="2" kern="0" dirty="0">
                <a:solidFill>
                  <a:srgbClr val="00F5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ENCAPSULAMENTO: PROTEGENDO O ESTADO INTERNO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685925"/>
            <a:ext cx="3474430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encapsulamento oculta a complexidade interna e protege os dados contra acessos e modificações indevidas.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71500" y="3014663"/>
            <a:ext cx="3474430" cy="900113"/>
          </a:xfrm>
          <a:prstGeom prst="rect">
            <a:avLst/>
          </a:prstGeom>
          <a:solidFill>
            <a:srgbClr val="00F5FF">
              <a:alpha val="5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3014663"/>
            <a:ext cx="28575" cy="900113"/>
          </a:xfrm>
          <a:prstGeom prst="rect">
            <a:avLst/>
          </a:prstGeom>
          <a:solidFill>
            <a:srgbClr val="00F5FF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3157538"/>
            <a:ext cx="171450" cy="20716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28700" y="3157538"/>
            <a:ext cx="2874355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Segurança de Dados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1028700" y="3386138"/>
            <a:ext cx="287435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Impede que propriedades críticas sejam alteradas diretamente de fora da classe.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571500" y="4093369"/>
            <a:ext cx="3474430" cy="900113"/>
          </a:xfrm>
          <a:prstGeom prst="rect">
            <a:avLst/>
          </a:prstGeom>
          <a:solidFill>
            <a:srgbClr val="00F5FF">
              <a:alpha val="5000"/>
            </a:srgbClr>
          </a:solidFill>
          <a:ln/>
        </p:spPr>
      </p:sp>
      <p:sp>
        <p:nvSpPr>
          <p:cNvPr id="11" name="Shape 7"/>
          <p:cNvSpPr/>
          <p:nvPr/>
        </p:nvSpPr>
        <p:spPr>
          <a:xfrm>
            <a:off x="571500" y="4093369"/>
            <a:ext cx="28575" cy="900113"/>
          </a:xfrm>
          <a:prstGeom prst="rect">
            <a:avLst/>
          </a:prstGeom>
          <a:solidFill>
            <a:srgbClr val="00F5FF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4236244"/>
            <a:ext cx="214313" cy="20716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71563" y="4236244"/>
            <a:ext cx="2831492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Interface Controlada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1071563" y="4464844"/>
            <a:ext cx="2831492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Expõe apenas o necessário através de métodos públicos (Getters/Setters).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4403117" y="1614488"/>
            <a:ext cx="4169383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F5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SINTAXE DE CAMPOS PRIVADOS (#)</a:t>
            </a:r>
            <a:endParaRPr lang="en-US" sz="800" dirty="0"/>
          </a:p>
        </p:txBody>
      </p:sp>
      <p:sp>
        <p:nvSpPr>
          <p:cNvPr id="16" name="Shape 11"/>
          <p:cNvSpPr/>
          <p:nvPr/>
        </p:nvSpPr>
        <p:spPr>
          <a:xfrm>
            <a:off x="4403117" y="1825228"/>
            <a:ext cx="4169383" cy="2428652"/>
          </a:xfrm>
          <a:prstGeom prst="rect">
            <a:avLst/>
          </a:prstGeom>
          <a:solidFill>
            <a:srgbClr val="0D0617"/>
          </a:solidFill>
          <a:ln w="9144">
            <a:solidFill>
              <a:srgbClr val="00F5FF">
                <a:alpha val="20000"/>
              </a:srgbClr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403117" y="1825228"/>
            <a:ext cx="4169383" cy="2428652"/>
          </a:xfrm>
          <a:prstGeom prst="rect">
            <a:avLst/>
          </a:prstGeom>
          <a:noFill/>
          <a:ln/>
        </p:spPr>
        <p:txBody>
          <a:bodyPr wrap="square" lIns="212598" tIns="212598" rIns="212598" bIns="212598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C678D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class</a:t>
            </a:r>
            <a:r>
              <a:rPr lang="en-US" sz="9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Conta {</a:t>
            </a:r>
            <a:r>
              <a:rPr lang="en-US" sz="9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900" b="1" dirty="0">
                <a:solidFill>
                  <a:srgbClr val="D19A66"/>
                </a:solidFill>
                <a:latin typeface="Fira Code Medium" pitchFamily="34" charset="0"/>
                <a:ea typeface="Fira Code Medium" pitchFamily="34" charset="-122"/>
                <a:cs typeface="Fira Code Medium" pitchFamily="34" charset="-120"/>
              </a:rPr>
              <a:t>#saldo</a:t>
            </a:r>
            <a:r>
              <a:rPr lang="en-US" sz="9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= 0; </a:t>
            </a:r>
            <a:r>
              <a:rPr lang="en-US" sz="950" i="1" dirty="0">
                <a:solidFill>
                  <a:srgbClr val="5C637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// Propriedade privada</a:t>
            </a:r>
            <a:r>
              <a:rPr lang="en-US" sz="9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9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depositar(valor) {</a:t>
            </a:r>
            <a:r>
              <a:rPr lang="en-US" sz="9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950" dirty="0">
                <a:solidFill>
                  <a:srgbClr val="C678D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this</a:t>
            </a:r>
            <a:r>
              <a:rPr lang="en-US" sz="9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.</a:t>
            </a:r>
            <a:r>
              <a:rPr lang="en-US" sz="900" b="1" dirty="0">
                <a:solidFill>
                  <a:srgbClr val="D19A66"/>
                </a:solidFill>
                <a:latin typeface="Fira Code Medium" pitchFamily="34" charset="0"/>
                <a:ea typeface="Fira Code Medium" pitchFamily="34" charset="-122"/>
                <a:cs typeface="Fira Code Medium" pitchFamily="34" charset="-120"/>
              </a:rPr>
              <a:t>#saldo</a:t>
            </a:r>
            <a:r>
              <a:rPr lang="en-US" sz="9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+= valor;</a:t>
            </a:r>
            <a:r>
              <a:rPr lang="en-US" sz="9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9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}</a:t>
            </a:r>
            <a:r>
              <a:rPr lang="en-US" sz="9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9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}</a:t>
            </a:r>
            <a:r>
              <a:rPr lang="en-US" sz="9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9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950" dirty="0">
                <a:solidFill>
                  <a:srgbClr val="C678D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const</a:t>
            </a:r>
            <a:r>
              <a:rPr lang="en-US" sz="9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c = </a:t>
            </a:r>
            <a:r>
              <a:rPr lang="en-US" sz="950" dirty="0">
                <a:solidFill>
                  <a:srgbClr val="C678D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new</a:t>
            </a:r>
            <a:r>
              <a:rPr lang="en-US" sz="9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Conta();</a:t>
            </a:r>
            <a:r>
              <a:rPr lang="en-US" sz="9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9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console.log(c.</a:t>
            </a:r>
            <a:r>
              <a:rPr lang="en-US" sz="900" b="1" dirty="0">
                <a:solidFill>
                  <a:srgbClr val="D19A66"/>
                </a:solidFill>
                <a:latin typeface="Fira Code Medium" pitchFamily="34" charset="0"/>
                <a:ea typeface="Fira Code Medium" pitchFamily="34" charset="-122"/>
                <a:cs typeface="Fira Code Medium" pitchFamily="34" charset="-120"/>
              </a:rPr>
              <a:t>#saldo</a:t>
            </a:r>
            <a:r>
              <a:rPr lang="en-US" sz="9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); </a:t>
            </a:r>
            <a:r>
              <a:rPr lang="en-US" sz="950" i="1" dirty="0">
                <a:solidFill>
                  <a:srgbClr val="FF4D4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// SyntaxError!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0F5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HERANÇA: EVOLUINDO E REUTILIZANDO CÓDIGO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057275"/>
            <a:ext cx="3086100" cy="3161109"/>
          </a:xfrm>
          <a:prstGeom prst="rect">
            <a:avLst/>
          </a:prstGeom>
          <a:solidFill>
            <a:srgbClr val="FFFFFF">
              <a:alpha val="3000"/>
            </a:srgbClr>
          </a:solidFill>
          <a:ln w="18288">
            <a:solidFill>
              <a:srgbClr val="00F5FF">
                <a:alpha val="2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85813" y="1271588"/>
            <a:ext cx="265747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F5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 conceito de "É UM"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85813" y="1657350"/>
            <a:ext cx="26574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herança permite que uma classe filha herde características de uma classe pai, evitando repetição de código.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1357313" y="2928938"/>
            <a:ext cx="1514475" cy="310753"/>
          </a:xfrm>
          <a:prstGeom prst="rect">
            <a:avLst/>
          </a:prstGeom>
          <a:solidFill>
            <a:srgbClr val="00F5FF">
              <a:alpha val="10000"/>
            </a:srgbClr>
          </a:solidFill>
          <a:ln w="18288">
            <a:solidFill>
              <a:srgbClr val="00F5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357313" y="2928938"/>
            <a:ext cx="1514475" cy="310753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Animal (Superclasse)</a:t>
            </a:r>
            <a:endParaRPr lang="en-US" sz="8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256" y="3300413"/>
            <a:ext cx="128588" cy="17145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346597" y="3564731"/>
            <a:ext cx="1535906" cy="310753"/>
          </a:xfrm>
          <a:prstGeom prst="rect">
            <a:avLst/>
          </a:prstGeom>
          <a:solidFill>
            <a:srgbClr val="00F5FF">
              <a:alpha val="10000"/>
            </a:srgbClr>
          </a:solidFill>
          <a:ln w="18288">
            <a:solidFill>
              <a:srgbClr val="00F5F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346597" y="3564731"/>
            <a:ext cx="1535906" cy="310753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Cachorro (Subclasse)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3943350" y="1057275"/>
            <a:ext cx="4629150" cy="2408504"/>
          </a:xfrm>
          <a:prstGeom prst="rect">
            <a:avLst/>
          </a:prstGeom>
          <a:solidFill>
            <a:srgbClr val="0D0617"/>
          </a:solidFill>
          <a:ln/>
        </p:spPr>
      </p:sp>
      <p:sp>
        <p:nvSpPr>
          <p:cNvPr id="13" name="Shape 9"/>
          <p:cNvSpPr/>
          <p:nvPr/>
        </p:nvSpPr>
        <p:spPr>
          <a:xfrm>
            <a:off x="3943350" y="1057275"/>
            <a:ext cx="35719" cy="2408504"/>
          </a:xfrm>
          <a:prstGeom prst="rect">
            <a:avLst/>
          </a:prstGeom>
          <a:solidFill>
            <a:srgbClr val="00F5FF"/>
          </a:solidFill>
          <a:ln/>
        </p:spPr>
      </p:sp>
      <p:sp>
        <p:nvSpPr>
          <p:cNvPr id="14" name="Text 10"/>
          <p:cNvSpPr/>
          <p:nvPr/>
        </p:nvSpPr>
        <p:spPr>
          <a:xfrm>
            <a:off x="3943350" y="1057275"/>
            <a:ext cx="4629150" cy="2408504"/>
          </a:xfrm>
          <a:prstGeom prst="rect">
            <a:avLst/>
          </a:prstGeom>
          <a:noFill/>
          <a:ln/>
        </p:spPr>
        <p:txBody>
          <a:bodyPr wrap="square" lIns="255143" tIns="255143" rIns="255143" bIns="255143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678D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class</a:t>
            </a:r>
            <a:r>
              <a:rPr lang="en-US" sz="95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950" dirty="0">
                <a:solidFill>
                  <a:srgbClr val="E5C07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Animal</a:t>
            </a:r>
            <a:r>
              <a:rPr lang="en-US" sz="95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{</a:t>
            </a:r>
            <a:r>
              <a:rPr lang="en-US" sz="95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950" dirty="0">
                <a:solidFill>
                  <a:srgbClr val="61AFE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constructor</a:t>
            </a:r>
            <a:r>
              <a:rPr lang="en-US" sz="95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(nome) { </a:t>
            </a:r>
            <a:r>
              <a:rPr lang="en-US" sz="950" dirty="0">
                <a:solidFill>
                  <a:srgbClr val="C678D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this</a:t>
            </a:r>
            <a:r>
              <a:rPr lang="en-US" sz="95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.nome = nome; }</a:t>
            </a:r>
            <a:r>
              <a:rPr lang="en-US" sz="95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95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}</a:t>
            </a:r>
            <a:r>
              <a:rPr lang="en-US" sz="95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95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950" dirty="0">
                <a:solidFill>
                  <a:srgbClr val="5C637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// Herança com extends</a:t>
            </a:r>
            <a:r>
              <a:rPr lang="en-US" sz="95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950" dirty="0">
                <a:solidFill>
                  <a:srgbClr val="C678D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class</a:t>
            </a:r>
            <a:r>
              <a:rPr lang="en-US" sz="95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950" dirty="0">
                <a:solidFill>
                  <a:srgbClr val="E5C07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Cachorro</a:t>
            </a:r>
            <a:r>
              <a:rPr lang="en-US" sz="95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950" dirty="0">
                <a:solidFill>
                  <a:srgbClr val="C678D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extends</a:t>
            </a:r>
            <a:r>
              <a:rPr lang="en-US" sz="95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950" dirty="0">
                <a:solidFill>
                  <a:srgbClr val="E5C07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Animal</a:t>
            </a:r>
            <a:r>
              <a:rPr lang="en-US" sz="95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{</a:t>
            </a:r>
            <a:r>
              <a:rPr lang="en-US" sz="95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950" dirty="0">
                <a:solidFill>
                  <a:srgbClr val="61AFE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constructor</a:t>
            </a:r>
            <a:r>
              <a:rPr lang="en-US" sz="95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(nome, raca) {</a:t>
            </a:r>
            <a:r>
              <a:rPr lang="en-US" sz="95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950" dirty="0">
                <a:solidFill>
                  <a:srgbClr val="C678D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super</a:t>
            </a:r>
            <a:r>
              <a:rPr lang="en-US" sz="95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(nome); </a:t>
            </a:r>
            <a:r>
              <a:rPr lang="en-US" sz="950" dirty="0">
                <a:solidFill>
                  <a:srgbClr val="5C637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// Chama o pai</a:t>
            </a:r>
            <a:r>
              <a:rPr lang="en-US" sz="95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950" dirty="0">
                <a:solidFill>
                  <a:srgbClr val="C678D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this</a:t>
            </a:r>
            <a:r>
              <a:rPr lang="en-US" sz="95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.raca = raca;</a:t>
            </a:r>
            <a:r>
              <a:rPr lang="en-US" sz="95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95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}</a:t>
            </a:r>
            <a:r>
              <a:rPr lang="en-US" sz="95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95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spc="2" kern="0" dirty="0">
                <a:solidFill>
                  <a:srgbClr val="00F5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POLIMORFISMO: MÚLTIPLAS FORMAS DE AGIR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0" y="985838"/>
            <a:ext cx="9144000" cy="479971"/>
          </a:xfrm>
          <a:prstGeom prst="rect">
            <a:avLst/>
          </a:prstGeom>
          <a:noFill/>
          <a:ln/>
        </p:spPr>
        <p:txBody>
          <a:bodyPr wrap="square" lIns="680339" tIns="0" rIns="680339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polimorfismo permite que diferentes classes herdem o mesmo método, mas o implementem de formas distintas, permitindo que o sistema trate objetos variados de maneira uniforme.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428625" y="1680121"/>
            <a:ext cx="2666963" cy="2857500"/>
          </a:xfrm>
          <a:prstGeom prst="rect">
            <a:avLst/>
          </a:prstGeom>
          <a:solidFill>
            <a:srgbClr val="FFFFFF">
              <a:alpha val="3000"/>
            </a:srgbClr>
          </a:solidFill>
          <a:ln w="18288">
            <a:solidFill>
              <a:srgbClr val="00F5FF">
                <a:alpha val="20000"/>
              </a:srgbClr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840855"/>
            <a:ext cx="178594" cy="1571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1531" y="1822996"/>
            <a:ext cx="127873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F5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Classe Cachorro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571500" y="2123033"/>
            <a:ext cx="2381213" cy="664369"/>
          </a:xfrm>
          <a:prstGeom prst="rect">
            <a:avLst/>
          </a:prstGeom>
          <a:solidFill>
            <a:srgbClr val="0D0617"/>
          </a:solidFill>
          <a:ln/>
        </p:spPr>
      </p:sp>
      <p:sp>
        <p:nvSpPr>
          <p:cNvPr id="9" name="Shape 5"/>
          <p:cNvSpPr/>
          <p:nvPr/>
        </p:nvSpPr>
        <p:spPr>
          <a:xfrm>
            <a:off x="571500" y="2123033"/>
            <a:ext cx="21431" cy="664369"/>
          </a:xfrm>
          <a:prstGeom prst="rect">
            <a:avLst/>
          </a:prstGeom>
          <a:solidFill>
            <a:srgbClr val="00F5FF"/>
          </a:solidFill>
          <a:ln/>
        </p:spPr>
      </p:sp>
      <p:sp>
        <p:nvSpPr>
          <p:cNvPr id="10" name="Text 6"/>
          <p:cNvSpPr/>
          <p:nvPr/>
        </p:nvSpPr>
        <p:spPr>
          <a:xfrm>
            <a:off x="571500" y="2123033"/>
            <a:ext cx="2381213" cy="66436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1AFE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emitirSom</a:t>
            </a:r>
            <a:r>
              <a:rPr lang="en-US" sz="7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() {</a:t>
            </a:r>
            <a:r>
              <a:rPr lang="en-US" sz="7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7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console.</a:t>
            </a:r>
            <a:r>
              <a:rPr lang="en-US" sz="750" dirty="0">
                <a:solidFill>
                  <a:srgbClr val="61AFE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log</a:t>
            </a:r>
            <a:r>
              <a:rPr lang="en-US" sz="7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</a:t>
            </a:r>
            <a:r>
              <a:rPr lang="en-US" sz="750" dirty="0">
                <a:solidFill>
                  <a:srgbClr val="98C37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"Au Au!"</a:t>
            </a:r>
            <a:r>
              <a:rPr lang="en-US" sz="7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);</a:t>
            </a:r>
            <a:r>
              <a:rPr lang="en-US" sz="7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7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}</a:t>
            </a:r>
            <a:endParaRPr lang="en-US" sz="750" dirty="0"/>
          </a:p>
        </p:txBody>
      </p:sp>
      <p:sp>
        <p:nvSpPr>
          <p:cNvPr id="11" name="Shape 7"/>
          <p:cNvSpPr/>
          <p:nvPr/>
        </p:nvSpPr>
        <p:spPr>
          <a:xfrm>
            <a:off x="571500" y="2894558"/>
            <a:ext cx="2381213" cy="264319"/>
          </a:xfrm>
          <a:prstGeom prst="rect">
            <a:avLst/>
          </a:prstGeom>
          <a:solidFill>
            <a:srgbClr val="00F5FF">
              <a:alpha val="10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571500" y="2894558"/>
            <a:ext cx="2381213" cy="26431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F5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Saída: "Au Au!"</a:t>
            </a:r>
            <a:endParaRPr lang="en-US" sz="700" dirty="0"/>
          </a:p>
        </p:txBody>
      </p:sp>
      <p:sp>
        <p:nvSpPr>
          <p:cNvPr id="13" name="Shape 9"/>
          <p:cNvSpPr/>
          <p:nvPr/>
        </p:nvSpPr>
        <p:spPr>
          <a:xfrm>
            <a:off x="3238463" y="1680121"/>
            <a:ext cx="2667019" cy="2857500"/>
          </a:xfrm>
          <a:prstGeom prst="rect">
            <a:avLst/>
          </a:prstGeom>
          <a:solidFill>
            <a:srgbClr val="FFFFFF">
              <a:alpha val="3000"/>
            </a:srgbClr>
          </a:solidFill>
          <a:ln w="18288">
            <a:solidFill>
              <a:srgbClr val="00F5FF">
                <a:alpha val="20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1338" y="1840855"/>
            <a:ext cx="178594" cy="15716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31369" y="1822996"/>
            <a:ext cx="92511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F5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Classe Gato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3381338" y="2123033"/>
            <a:ext cx="2381269" cy="664369"/>
          </a:xfrm>
          <a:prstGeom prst="rect">
            <a:avLst/>
          </a:prstGeom>
          <a:solidFill>
            <a:srgbClr val="0D0617"/>
          </a:solidFill>
          <a:ln/>
        </p:spPr>
      </p:sp>
      <p:sp>
        <p:nvSpPr>
          <p:cNvPr id="17" name="Shape 12"/>
          <p:cNvSpPr/>
          <p:nvPr/>
        </p:nvSpPr>
        <p:spPr>
          <a:xfrm>
            <a:off x="3381338" y="2123033"/>
            <a:ext cx="21431" cy="664369"/>
          </a:xfrm>
          <a:prstGeom prst="rect">
            <a:avLst/>
          </a:prstGeom>
          <a:solidFill>
            <a:srgbClr val="00F5FF"/>
          </a:solidFill>
          <a:ln/>
        </p:spPr>
      </p:sp>
      <p:sp>
        <p:nvSpPr>
          <p:cNvPr id="18" name="Text 13"/>
          <p:cNvSpPr/>
          <p:nvPr/>
        </p:nvSpPr>
        <p:spPr>
          <a:xfrm>
            <a:off x="3381338" y="2123033"/>
            <a:ext cx="2381269" cy="66436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1AFE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emitirSom</a:t>
            </a:r>
            <a:r>
              <a:rPr lang="en-US" sz="7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() {</a:t>
            </a:r>
            <a:r>
              <a:rPr lang="en-US" sz="7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7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console.</a:t>
            </a:r>
            <a:r>
              <a:rPr lang="en-US" sz="750" dirty="0">
                <a:solidFill>
                  <a:srgbClr val="61AFE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log</a:t>
            </a:r>
            <a:r>
              <a:rPr lang="en-US" sz="7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</a:t>
            </a:r>
            <a:r>
              <a:rPr lang="en-US" sz="750" dirty="0">
                <a:solidFill>
                  <a:srgbClr val="98C37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"Miau!"</a:t>
            </a:r>
            <a:r>
              <a:rPr lang="en-US" sz="7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);</a:t>
            </a:r>
            <a:r>
              <a:rPr lang="en-US" sz="7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7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}</a:t>
            </a:r>
            <a:endParaRPr lang="en-US" sz="750" dirty="0"/>
          </a:p>
        </p:txBody>
      </p:sp>
      <p:sp>
        <p:nvSpPr>
          <p:cNvPr id="19" name="Shape 14"/>
          <p:cNvSpPr/>
          <p:nvPr/>
        </p:nvSpPr>
        <p:spPr>
          <a:xfrm>
            <a:off x="3381338" y="2894558"/>
            <a:ext cx="2381269" cy="264319"/>
          </a:xfrm>
          <a:prstGeom prst="rect">
            <a:avLst/>
          </a:prstGeom>
          <a:solidFill>
            <a:srgbClr val="00F5FF">
              <a:alpha val="10000"/>
            </a:srgbClr>
          </a:solidFill>
          <a:ln/>
        </p:spPr>
      </p:sp>
      <p:sp>
        <p:nvSpPr>
          <p:cNvPr id="20" name="Text 15"/>
          <p:cNvSpPr/>
          <p:nvPr/>
        </p:nvSpPr>
        <p:spPr>
          <a:xfrm>
            <a:off x="3381338" y="2894558"/>
            <a:ext cx="2381269" cy="26431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F5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Saída: "Miau!"</a:t>
            </a:r>
            <a:endParaRPr lang="en-US" sz="700" dirty="0"/>
          </a:p>
        </p:txBody>
      </p:sp>
      <p:sp>
        <p:nvSpPr>
          <p:cNvPr id="21" name="Shape 16"/>
          <p:cNvSpPr/>
          <p:nvPr/>
        </p:nvSpPr>
        <p:spPr>
          <a:xfrm>
            <a:off x="6048356" y="1680121"/>
            <a:ext cx="2667019" cy="2857500"/>
          </a:xfrm>
          <a:prstGeom prst="rect">
            <a:avLst/>
          </a:prstGeom>
          <a:solidFill>
            <a:srgbClr val="FFFFFF">
              <a:alpha val="3000"/>
            </a:srgbClr>
          </a:solidFill>
          <a:ln w="18288">
            <a:solidFill>
              <a:srgbClr val="00F5FF">
                <a:alpha val="20000"/>
              </a:srgbClr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31" y="1840855"/>
            <a:ext cx="157163" cy="15716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419831" y="1822996"/>
            <a:ext cx="118229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F5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Classe Pássaro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191231" y="2123033"/>
            <a:ext cx="2381269" cy="664369"/>
          </a:xfrm>
          <a:prstGeom prst="rect">
            <a:avLst/>
          </a:prstGeom>
          <a:solidFill>
            <a:srgbClr val="0D0617"/>
          </a:solidFill>
          <a:ln/>
        </p:spPr>
      </p:sp>
      <p:sp>
        <p:nvSpPr>
          <p:cNvPr id="25" name="Shape 19"/>
          <p:cNvSpPr/>
          <p:nvPr/>
        </p:nvSpPr>
        <p:spPr>
          <a:xfrm>
            <a:off x="6191231" y="2123033"/>
            <a:ext cx="21431" cy="664369"/>
          </a:xfrm>
          <a:prstGeom prst="rect">
            <a:avLst/>
          </a:prstGeom>
          <a:solidFill>
            <a:srgbClr val="00F5FF"/>
          </a:solidFill>
          <a:ln/>
        </p:spPr>
      </p:sp>
      <p:sp>
        <p:nvSpPr>
          <p:cNvPr id="26" name="Text 20"/>
          <p:cNvSpPr/>
          <p:nvPr/>
        </p:nvSpPr>
        <p:spPr>
          <a:xfrm>
            <a:off x="6191231" y="2123033"/>
            <a:ext cx="2381269" cy="66436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1AFE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emitirSom</a:t>
            </a:r>
            <a:r>
              <a:rPr lang="en-US" sz="7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() {</a:t>
            </a:r>
            <a:r>
              <a:rPr lang="en-US" sz="7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7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console.</a:t>
            </a:r>
            <a:r>
              <a:rPr lang="en-US" sz="750" dirty="0">
                <a:solidFill>
                  <a:srgbClr val="61AFE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log</a:t>
            </a:r>
            <a:r>
              <a:rPr lang="en-US" sz="7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</a:t>
            </a:r>
            <a:r>
              <a:rPr lang="en-US" sz="750" dirty="0">
                <a:solidFill>
                  <a:srgbClr val="98C37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"Piu Piu!"</a:t>
            </a:r>
            <a:r>
              <a:rPr lang="en-US" sz="7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);</a:t>
            </a:r>
            <a:r>
              <a:rPr lang="en-US" sz="7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7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}</a:t>
            </a:r>
            <a:endParaRPr lang="en-US" sz="750" dirty="0"/>
          </a:p>
        </p:txBody>
      </p:sp>
      <p:sp>
        <p:nvSpPr>
          <p:cNvPr id="27" name="Shape 21"/>
          <p:cNvSpPr/>
          <p:nvPr/>
        </p:nvSpPr>
        <p:spPr>
          <a:xfrm>
            <a:off x="6191231" y="2894558"/>
            <a:ext cx="2381269" cy="264319"/>
          </a:xfrm>
          <a:prstGeom prst="rect">
            <a:avLst/>
          </a:prstGeom>
          <a:solidFill>
            <a:srgbClr val="00F5FF">
              <a:alpha val="10000"/>
            </a:srgbClr>
          </a:solidFill>
          <a:ln/>
        </p:spPr>
      </p:sp>
      <p:sp>
        <p:nvSpPr>
          <p:cNvPr id="28" name="Text 22"/>
          <p:cNvSpPr/>
          <p:nvPr/>
        </p:nvSpPr>
        <p:spPr>
          <a:xfrm>
            <a:off x="6191231" y="2894558"/>
            <a:ext cx="2381269" cy="26431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F5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Saída: "Piu Piu!"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spc="2" kern="0" dirty="0">
                <a:solidFill>
                  <a:srgbClr val="00F5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ABSTRAÇÃO: FOCANDO NO ESSENCIAL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485900"/>
            <a:ext cx="2500313" cy="2450306"/>
          </a:xfrm>
          <a:prstGeom prst="rect">
            <a:avLst/>
          </a:prstGeom>
          <a:solidFill>
            <a:srgbClr val="00F5FF">
              <a:alpha val="3000"/>
            </a:srgbClr>
          </a:solidFill>
          <a:ln w="18288">
            <a:solidFill>
              <a:srgbClr val="00F5FF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7344" y="1771650"/>
            <a:ext cx="428625" cy="4286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85813" y="2378869"/>
            <a:ext cx="207168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Realidade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785813" y="2764631"/>
            <a:ext cx="2071688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mundo real é infinitamente complexo e cheio de detalhes irrelevantes para o software.</a:t>
            </a:r>
            <a:endParaRPr lang="en-US" sz="10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7531" y="2568178"/>
            <a:ext cx="178594" cy="28575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3321844" y="1485900"/>
            <a:ext cx="2500313" cy="2450306"/>
          </a:xfrm>
          <a:prstGeom prst="rect">
            <a:avLst/>
          </a:prstGeom>
          <a:solidFill>
            <a:srgbClr val="00F5FF">
              <a:alpha val="3000"/>
            </a:srgbClr>
          </a:solidFill>
          <a:ln w="18288">
            <a:solidFill>
              <a:srgbClr val="00F5FF"/>
            </a:solidFill>
            <a:prstDash val="solid"/>
          </a:ln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7688" y="1771650"/>
            <a:ext cx="428625" cy="42862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536156" y="2378869"/>
            <a:ext cx="207168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Filtro</a:t>
            </a:r>
            <a:endParaRPr lang="en-US" sz="1400" dirty="0"/>
          </a:p>
        </p:txBody>
      </p:sp>
      <p:sp>
        <p:nvSpPr>
          <p:cNvPr id="12" name="Text 6"/>
          <p:cNvSpPr/>
          <p:nvPr/>
        </p:nvSpPr>
        <p:spPr>
          <a:xfrm>
            <a:off x="3536156" y="2764631"/>
            <a:ext cx="2071688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Identificamos apenas as características e ações necessárias para o problema atual.</a:t>
            </a:r>
            <a:endParaRPr lang="en-US" sz="10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7875" y="2568178"/>
            <a:ext cx="178594" cy="28575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6072188" y="1485900"/>
            <a:ext cx="2500313" cy="2450306"/>
          </a:xfrm>
          <a:prstGeom prst="rect">
            <a:avLst/>
          </a:prstGeom>
          <a:solidFill>
            <a:srgbClr val="00F5FF">
              <a:alpha val="3000"/>
            </a:srgbClr>
          </a:solidFill>
          <a:ln w="18288">
            <a:solidFill>
              <a:srgbClr val="00F5FF"/>
            </a:solidFill>
            <a:prstDash val="solid"/>
          </a:ln>
        </p:spPr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1242" y="1771650"/>
            <a:ext cx="482203" cy="428625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6286500" y="2378869"/>
            <a:ext cx="207168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Modelo</a:t>
            </a:r>
            <a:endParaRPr lang="en-US" sz="1400" dirty="0"/>
          </a:p>
        </p:txBody>
      </p:sp>
      <p:sp>
        <p:nvSpPr>
          <p:cNvPr id="17" name="Text 9"/>
          <p:cNvSpPr/>
          <p:nvPr/>
        </p:nvSpPr>
        <p:spPr>
          <a:xfrm>
            <a:off x="6286500" y="2764631"/>
            <a:ext cx="2071688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Criamos uma representação simplificada (Classe) que atende aos requisitos do sistema.</a:t>
            </a:r>
            <a:endParaRPr lang="en-US" sz="1050" dirty="0"/>
          </a:p>
        </p:txBody>
      </p:sp>
      <p:sp>
        <p:nvSpPr>
          <p:cNvPr id="18" name="Shape 10"/>
          <p:cNvSpPr/>
          <p:nvPr/>
        </p:nvSpPr>
        <p:spPr>
          <a:xfrm>
            <a:off x="571500" y="4336256"/>
            <a:ext cx="8001000" cy="67151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9" name="Shape 11"/>
          <p:cNvSpPr/>
          <p:nvPr/>
        </p:nvSpPr>
        <p:spPr>
          <a:xfrm>
            <a:off x="571500" y="4336256"/>
            <a:ext cx="8001000" cy="7144"/>
          </a:xfrm>
          <a:prstGeom prst="rect">
            <a:avLst/>
          </a:prstGeom>
          <a:solidFill>
            <a:srgbClr val="CCFDFF"/>
          </a:solidFill>
          <a:ln/>
        </p:spPr>
      </p:sp>
      <p:sp>
        <p:nvSpPr>
          <p:cNvPr id="20" name="Text 12"/>
          <p:cNvSpPr/>
          <p:nvPr/>
        </p:nvSpPr>
        <p:spPr>
          <a:xfrm>
            <a:off x="571500" y="4550569"/>
            <a:ext cx="8001000" cy="450056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"Abstrair é a arte de ignorar detalhes para que possamos focar no que realmente importa para a solução."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spc="2" kern="0" dirty="0">
                <a:solidFill>
                  <a:srgbClr val="00F5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GETTERS E SETTERS: O CONTROLE DE ACESSO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271588"/>
            <a:ext cx="3439716" cy="835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Permitem interceptar a leitura e a escrita de propriedades, adicionando lógica de validação ou computação.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71500" y="2393156"/>
            <a:ext cx="3439716" cy="900113"/>
          </a:xfrm>
          <a:prstGeom prst="rect">
            <a:avLst/>
          </a:prstGeom>
          <a:solidFill>
            <a:srgbClr val="00F5FF">
              <a:alpha val="5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2393156"/>
            <a:ext cx="28575" cy="900113"/>
          </a:xfrm>
          <a:prstGeom prst="rect">
            <a:avLst/>
          </a:prstGeom>
          <a:solidFill>
            <a:srgbClr val="00F5FF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2743200"/>
            <a:ext cx="200025" cy="2000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7275" y="2536031"/>
            <a:ext cx="2811066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Validação de Dados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1057275" y="2764631"/>
            <a:ext cx="2811066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Garante que apenas valores válidos sejam atribuídos aos atributos.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571500" y="3507581"/>
            <a:ext cx="3439716" cy="900113"/>
          </a:xfrm>
          <a:prstGeom prst="rect">
            <a:avLst/>
          </a:prstGeom>
          <a:solidFill>
            <a:srgbClr val="00F5FF">
              <a:alpha val="5000"/>
            </a:srgbClr>
          </a:solidFill>
          <a:ln/>
        </p:spPr>
      </p:sp>
      <p:sp>
        <p:nvSpPr>
          <p:cNvPr id="11" name="Shape 7"/>
          <p:cNvSpPr/>
          <p:nvPr/>
        </p:nvSpPr>
        <p:spPr>
          <a:xfrm>
            <a:off x="571500" y="3507581"/>
            <a:ext cx="28575" cy="900113"/>
          </a:xfrm>
          <a:prstGeom prst="rect">
            <a:avLst/>
          </a:prstGeom>
          <a:solidFill>
            <a:srgbClr val="00F5FF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3857625"/>
            <a:ext cx="150019" cy="20002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07269" y="3650456"/>
            <a:ext cx="2861072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Propriedades Virtuais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1007269" y="3879056"/>
            <a:ext cx="2861072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Cria valores dinâmicos baseados em outros atributos do objeto.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4368403" y="1200150"/>
            <a:ext cx="4204097" cy="3103959"/>
          </a:xfrm>
          <a:prstGeom prst="rect">
            <a:avLst/>
          </a:prstGeom>
          <a:solidFill>
            <a:srgbClr val="0D0617"/>
          </a:solidFill>
          <a:ln w="9144">
            <a:solidFill>
              <a:srgbClr val="00F5FF">
                <a:alpha val="20000"/>
              </a:srgbClr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4368403" y="1200150"/>
            <a:ext cx="4204097" cy="3103959"/>
          </a:xfrm>
          <a:prstGeom prst="rect">
            <a:avLst/>
          </a:prstGeom>
          <a:noFill/>
          <a:ln/>
        </p:spPr>
        <p:txBody>
          <a:bodyPr wrap="square" lIns="212598" tIns="212598" rIns="212598" bIns="21259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678D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class</a:t>
            </a:r>
            <a:r>
              <a:rPr lang="en-US" sz="90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Pessoa {</a:t>
            </a:r>
            <a:r>
              <a:rPr lang="en-US" sz="90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900" dirty="0">
                <a:solidFill>
                  <a:srgbClr val="E06C7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#idade</a:t>
            </a:r>
            <a:r>
              <a:rPr lang="en-US" sz="90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= 0;</a:t>
            </a:r>
            <a:r>
              <a:rPr lang="en-US" sz="90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90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900" dirty="0">
                <a:solidFill>
                  <a:srgbClr val="C678D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get</a:t>
            </a:r>
            <a:r>
              <a:rPr lang="en-US" sz="90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idade() {</a:t>
            </a:r>
            <a:r>
              <a:rPr lang="en-US" sz="90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900" dirty="0">
                <a:solidFill>
                  <a:srgbClr val="C678D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return</a:t>
            </a:r>
            <a:r>
              <a:rPr lang="en-US" sz="90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900" dirty="0">
                <a:solidFill>
                  <a:srgbClr val="C678D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this</a:t>
            </a:r>
            <a:r>
              <a:rPr lang="en-US" sz="90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.</a:t>
            </a:r>
            <a:r>
              <a:rPr lang="en-US" sz="900" dirty="0">
                <a:solidFill>
                  <a:srgbClr val="E06C7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#idade</a:t>
            </a:r>
            <a:r>
              <a:rPr lang="en-US" sz="90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;</a:t>
            </a:r>
            <a:r>
              <a:rPr lang="en-US" sz="90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90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}</a:t>
            </a:r>
            <a:r>
              <a:rPr lang="en-US" sz="90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90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900" dirty="0">
                <a:solidFill>
                  <a:srgbClr val="C678D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set</a:t>
            </a:r>
            <a:r>
              <a:rPr lang="en-US" sz="90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idade(valor) {</a:t>
            </a:r>
            <a:r>
              <a:rPr lang="en-US" sz="90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900" dirty="0">
                <a:solidFill>
                  <a:srgbClr val="C678D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if</a:t>
            </a:r>
            <a:r>
              <a:rPr lang="en-US" sz="90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(valor &gt; 0) </a:t>
            </a:r>
            <a:r>
              <a:rPr lang="en-US" sz="900" dirty="0">
                <a:solidFill>
                  <a:srgbClr val="C678D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this</a:t>
            </a:r>
            <a:r>
              <a:rPr lang="en-US" sz="90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.</a:t>
            </a:r>
            <a:r>
              <a:rPr lang="en-US" sz="900" dirty="0">
                <a:solidFill>
                  <a:srgbClr val="E06C7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#idade</a:t>
            </a:r>
            <a:r>
              <a:rPr lang="en-US" sz="90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= valor;</a:t>
            </a:r>
            <a:r>
              <a:rPr lang="en-US" sz="90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90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}</a:t>
            </a:r>
            <a:r>
              <a:rPr lang="en-US" sz="90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90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}</a:t>
            </a:r>
            <a:r>
              <a:rPr lang="en-US" sz="90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90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900" dirty="0">
                <a:solidFill>
                  <a:srgbClr val="C678D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const</a:t>
            </a:r>
            <a:r>
              <a:rPr lang="en-US" sz="90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p = </a:t>
            </a:r>
            <a:r>
              <a:rPr lang="en-US" sz="900" dirty="0">
                <a:solidFill>
                  <a:srgbClr val="C678D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new</a:t>
            </a:r>
            <a:r>
              <a:rPr lang="en-US" sz="90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Pessoa();</a:t>
            </a:r>
            <a:r>
              <a:rPr lang="en-US" sz="90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90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p.idade = 25; </a:t>
            </a:r>
            <a:r>
              <a:rPr lang="en-US" sz="900" i="1" dirty="0">
                <a:solidFill>
                  <a:srgbClr val="5C637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// Chama o 'set'</a:t>
            </a:r>
            <a:r>
              <a:rPr lang="en-US" sz="90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90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console.log(p.idade); </a:t>
            </a:r>
            <a:r>
              <a:rPr lang="en-US" sz="900" i="1" dirty="0">
                <a:solidFill>
                  <a:srgbClr val="5C637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// Chama o 'get'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497366" y="428625"/>
            <a:ext cx="1075134" cy="296466"/>
          </a:xfrm>
          <a:prstGeom prst="rect">
            <a:avLst/>
          </a:prstGeom>
          <a:solidFill>
            <a:srgbClr val="00F5FF">
              <a:alpha val="10000"/>
            </a:srgbClr>
          </a:solidFill>
          <a:ln w="9144">
            <a:solidFill>
              <a:srgbClr val="00F5F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497366" y="428625"/>
            <a:ext cx="1075134" cy="296466"/>
          </a:xfrm>
          <a:prstGeom prst="rect">
            <a:avLst/>
          </a:prstGeom>
          <a:noFill/>
          <a:ln/>
        </p:spPr>
        <p:txBody>
          <a:bodyPr wrap="none" lIns="170053" tIns="85090" rIns="170053" bIns="8509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F5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PARTE 01 / 02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71500" y="428625"/>
            <a:ext cx="857250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spc="2" kern="0" dirty="0">
                <a:solidFill>
                  <a:srgbClr val="00F5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PROJETO PRÁTICO: GESTÃO ESCOLAR (I)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0" y="985838"/>
            <a:ext cx="9144000" cy="220005"/>
          </a:xfrm>
          <a:prstGeom prst="rect">
            <a:avLst/>
          </a:prstGeom>
          <a:noFill/>
          <a:ln/>
        </p:spPr>
        <p:txBody>
          <a:bodyPr wrap="none" lIns="680339" tIns="0" rIns="680339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Vamos aplicar os conceitos de </a:t>
            </a:r>
            <a:r>
              <a:rPr lang="en-US" sz="1100" b="1" dirty="0">
                <a:solidFill>
                  <a:srgbClr val="FFFFFF">
                    <a:alpha val="8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Herança</a:t>
            </a:r>
            <a:r>
              <a:rPr lang="en-US" sz="115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</a:t>
            </a:r>
            <a:r>
              <a:rPr lang="en-US" sz="1100" b="1" dirty="0">
                <a:solidFill>
                  <a:srgbClr val="FFFFFF">
                    <a:alpha val="8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Encapsulamento</a:t>
            </a:r>
            <a:r>
              <a:rPr lang="en-US" sz="115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criar a base do nosso sistema escolar.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71500" y="1420155"/>
            <a:ext cx="8001000" cy="2948471"/>
          </a:xfrm>
          <a:prstGeom prst="rect">
            <a:avLst/>
          </a:prstGeom>
          <a:solidFill>
            <a:srgbClr val="0D0617"/>
          </a:solidFill>
          <a:ln/>
        </p:spPr>
      </p:sp>
      <p:sp>
        <p:nvSpPr>
          <p:cNvPr id="8" name="Shape 5"/>
          <p:cNvSpPr/>
          <p:nvPr/>
        </p:nvSpPr>
        <p:spPr>
          <a:xfrm>
            <a:off x="571500" y="1420155"/>
            <a:ext cx="35719" cy="2948471"/>
          </a:xfrm>
          <a:prstGeom prst="rect">
            <a:avLst/>
          </a:prstGeom>
          <a:solidFill>
            <a:srgbClr val="00F5FF"/>
          </a:solidFill>
          <a:ln/>
        </p:spPr>
      </p:sp>
      <p:sp>
        <p:nvSpPr>
          <p:cNvPr id="9" name="Text 6"/>
          <p:cNvSpPr/>
          <p:nvPr/>
        </p:nvSpPr>
        <p:spPr>
          <a:xfrm>
            <a:off x="571500" y="1420155"/>
            <a:ext cx="8001000" cy="2948471"/>
          </a:xfrm>
          <a:prstGeom prst="rect">
            <a:avLst/>
          </a:prstGeom>
          <a:noFill/>
          <a:ln/>
        </p:spPr>
        <p:txBody>
          <a:bodyPr wrap="square" lIns="255143" tIns="255143" rIns="255143" bIns="255143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678D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class</a:t>
            </a:r>
            <a:r>
              <a:rPr lang="en-US" sz="9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950" dirty="0">
                <a:solidFill>
                  <a:srgbClr val="E5C07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Pessoa</a:t>
            </a:r>
            <a:r>
              <a:rPr lang="en-US" sz="9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{</a:t>
            </a:r>
            <a:r>
              <a:rPr lang="en-US" sz="9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950" dirty="0">
                <a:solidFill>
                  <a:srgbClr val="D19A6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#nome</a:t>
            </a:r>
            <a:r>
              <a:rPr lang="en-US" sz="9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; </a:t>
            </a:r>
            <a:r>
              <a:rPr lang="en-US" sz="950" dirty="0">
                <a:solidFill>
                  <a:srgbClr val="D19A6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#email</a:t>
            </a:r>
            <a:r>
              <a:rPr lang="en-US" sz="9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;</a:t>
            </a:r>
            <a:r>
              <a:rPr lang="en-US" sz="9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950" dirty="0">
                <a:solidFill>
                  <a:srgbClr val="61AFE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constructor</a:t>
            </a:r>
            <a:r>
              <a:rPr lang="en-US" sz="9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(nome, email) {</a:t>
            </a:r>
            <a:r>
              <a:rPr lang="en-US" sz="9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950" dirty="0">
                <a:solidFill>
                  <a:srgbClr val="C678D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this</a:t>
            </a:r>
            <a:r>
              <a:rPr lang="en-US" sz="9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.</a:t>
            </a:r>
            <a:r>
              <a:rPr lang="en-US" sz="950" dirty="0">
                <a:solidFill>
                  <a:srgbClr val="D19A6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#nome</a:t>
            </a:r>
            <a:r>
              <a:rPr lang="en-US" sz="9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= nome; </a:t>
            </a:r>
            <a:r>
              <a:rPr lang="en-US" sz="950" dirty="0">
                <a:solidFill>
                  <a:srgbClr val="C678D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this</a:t>
            </a:r>
            <a:r>
              <a:rPr lang="en-US" sz="9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.</a:t>
            </a:r>
            <a:r>
              <a:rPr lang="en-US" sz="950" dirty="0">
                <a:solidFill>
                  <a:srgbClr val="D19A6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#email</a:t>
            </a:r>
            <a:r>
              <a:rPr lang="en-US" sz="9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= email;</a:t>
            </a:r>
            <a:r>
              <a:rPr lang="en-US" sz="9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9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}</a:t>
            </a:r>
            <a:r>
              <a:rPr lang="en-US" sz="9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9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}</a:t>
            </a:r>
            <a:r>
              <a:rPr lang="en-US" sz="9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9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950" dirty="0">
                <a:solidFill>
                  <a:srgbClr val="C678D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class</a:t>
            </a:r>
            <a:r>
              <a:rPr lang="en-US" sz="9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950" dirty="0">
                <a:solidFill>
                  <a:srgbClr val="E5C07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Aluno</a:t>
            </a:r>
            <a:r>
              <a:rPr lang="en-US" sz="9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950" dirty="0">
                <a:solidFill>
                  <a:srgbClr val="C678D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extends</a:t>
            </a:r>
            <a:r>
              <a:rPr lang="en-US" sz="9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950" dirty="0">
                <a:solidFill>
                  <a:srgbClr val="E5C07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Pessoa</a:t>
            </a:r>
            <a:r>
              <a:rPr lang="en-US" sz="9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{</a:t>
            </a:r>
            <a:r>
              <a:rPr lang="en-US" sz="9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950" dirty="0">
                <a:solidFill>
                  <a:srgbClr val="D19A6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#notas</a:t>
            </a:r>
            <a:r>
              <a:rPr lang="en-US" sz="9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= [];</a:t>
            </a:r>
            <a:r>
              <a:rPr lang="en-US" sz="9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950" dirty="0">
                <a:solidFill>
                  <a:srgbClr val="61AFE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constructor</a:t>
            </a:r>
            <a:r>
              <a:rPr lang="en-US" sz="9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(nome, email, matricula) {</a:t>
            </a:r>
            <a:r>
              <a:rPr lang="en-US" sz="9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950" dirty="0">
                <a:solidFill>
                  <a:srgbClr val="C678D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super</a:t>
            </a:r>
            <a:r>
              <a:rPr lang="en-US" sz="9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(nome, email);</a:t>
            </a:r>
            <a:r>
              <a:rPr lang="en-US" sz="9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950" dirty="0">
                <a:solidFill>
                  <a:srgbClr val="C678D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this</a:t>
            </a:r>
            <a:r>
              <a:rPr lang="en-US" sz="9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.matricula = matricula;</a:t>
            </a:r>
            <a:r>
              <a:rPr lang="en-US" sz="9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9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}</a:t>
            </a:r>
            <a:r>
              <a:rPr lang="en-US" sz="9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9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spc="2" kern="0" dirty="0">
                <a:solidFill>
                  <a:srgbClr val="00F5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PROJETO PRÁTICO: SISTEMA DE GESTÃO ESCOLAR (II)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471613"/>
            <a:ext cx="4629150" cy="3100388"/>
          </a:xfrm>
          <a:prstGeom prst="rect">
            <a:avLst/>
          </a:prstGeom>
          <a:solidFill>
            <a:srgbClr val="0D0617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471613"/>
            <a:ext cx="35719" cy="3100388"/>
          </a:xfrm>
          <a:prstGeom prst="rect">
            <a:avLst/>
          </a:prstGeom>
          <a:solidFill>
            <a:srgbClr val="00F5FF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471613"/>
            <a:ext cx="4629150" cy="3100388"/>
          </a:xfrm>
          <a:prstGeom prst="rect">
            <a:avLst/>
          </a:prstGeom>
          <a:noFill/>
          <a:ln/>
        </p:spPr>
        <p:txBody>
          <a:bodyPr wrap="square" lIns="212598" tIns="212598" rIns="212598" bIns="21259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678D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class</a:t>
            </a:r>
            <a:r>
              <a:rPr lang="en-US" sz="8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850" dirty="0">
                <a:solidFill>
                  <a:srgbClr val="E5C07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Escola</a:t>
            </a:r>
            <a:r>
              <a:rPr lang="en-US" sz="8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{</a:t>
            </a:r>
            <a:r>
              <a:rPr lang="en-US" sz="8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850" dirty="0">
                <a:solidFill>
                  <a:srgbClr val="61AFE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constructor</a:t>
            </a:r>
            <a:r>
              <a:rPr lang="en-US" sz="8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(nome) {</a:t>
            </a:r>
            <a:r>
              <a:rPr lang="en-US" sz="8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850" dirty="0">
                <a:solidFill>
                  <a:srgbClr val="C678D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this</a:t>
            </a:r>
            <a:r>
              <a:rPr lang="en-US" sz="8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.nome = nome;</a:t>
            </a:r>
            <a:r>
              <a:rPr lang="en-US" sz="8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850" dirty="0">
                <a:solidFill>
                  <a:srgbClr val="C678D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this</a:t>
            </a:r>
            <a:r>
              <a:rPr lang="en-US" sz="8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.alunos = [];</a:t>
            </a:r>
            <a:r>
              <a:rPr lang="en-US" sz="8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8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}</a:t>
            </a:r>
            <a:r>
              <a:rPr lang="en-US" sz="8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8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850" dirty="0">
                <a:solidFill>
                  <a:srgbClr val="61AFE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matricularAluno</a:t>
            </a:r>
            <a:r>
              <a:rPr lang="en-US" sz="8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(aluno) {</a:t>
            </a:r>
            <a:r>
              <a:rPr lang="en-US" sz="8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850" dirty="0">
                <a:solidFill>
                  <a:srgbClr val="C678D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this</a:t>
            </a:r>
            <a:r>
              <a:rPr lang="en-US" sz="8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.alunos.</a:t>
            </a:r>
            <a:r>
              <a:rPr lang="en-US" sz="850" dirty="0">
                <a:solidFill>
                  <a:srgbClr val="61AFE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push</a:t>
            </a:r>
            <a:r>
              <a:rPr lang="en-US" sz="8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(aluno);</a:t>
            </a:r>
            <a:r>
              <a:rPr lang="en-US" sz="8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8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}</a:t>
            </a:r>
            <a:r>
              <a:rPr lang="en-US" sz="8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8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850" dirty="0">
                <a:solidFill>
                  <a:srgbClr val="61AFE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listarAlunos</a:t>
            </a:r>
            <a:r>
              <a:rPr lang="en-US" sz="8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() {</a:t>
            </a:r>
            <a:r>
              <a:rPr lang="en-US" sz="8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850" dirty="0">
                <a:solidFill>
                  <a:srgbClr val="C678D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this</a:t>
            </a:r>
            <a:r>
              <a:rPr lang="en-US" sz="8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.alunos.</a:t>
            </a:r>
            <a:r>
              <a:rPr lang="en-US" sz="850" dirty="0">
                <a:solidFill>
                  <a:srgbClr val="61AFE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forEach</a:t>
            </a:r>
            <a:r>
              <a:rPr lang="en-US" sz="8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(a =&gt; {</a:t>
            </a:r>
            <a:r>
              <a:rPr lang="en-US" sz="8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8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console.</a:t>
            </a:r>
            <a:r>
              <a:rPr lang="en-US" sz="850" dirty="0">
                <a:solidFill>
                  <a:srgbClr val="61AFE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log</a:t>
            </a:r>
            <a:r>
              <a:rPr lang="en-US" sz="8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(a.</a:t>
            </a:r>
            <a:r>
              <a:rPr lang="en-US" sz="850" dirty="0">
                <a:solidFill>
                  <a:srgbClr val="61AFE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obterDetalhes</a:t>
            </a:r>
            <a:r>
              <a:rPr lang="en-US" sz="8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());</a:t>
            </a:r>
            <a:r>
              <a:rPr lang="en-US" sz="8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8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});</a:t>
            </a:r>
            <a:r>
              <a:rPr lang="en-US" sz="8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8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}</a:t>
            </a:r>
            <a:r>
              <a:rPr lang="en-US" sz="8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8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}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486400" y="1471613"/>
            <a:ext cx="3086100" cy="1564481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00F5FF">
                <a:alpha val="2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29275" y="1614488"/>
            <a:ext cx="280035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F5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EXECUÇÃO DO SISTEMA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629275" y="1914525"/>
            <a:ext cx="2800350" cy="964406"/>
          </a:xfrm>
          <a:prstGeom prst="rect">
            <a:avLst/>
          </a:prstGeom>
          <a:solidFill>
            <a:srgbClr val="0D0617"/>
          </a:solidFill>
          <a:ln/>
        </p:spPr>
      </p:sp>
      <p:sp>
        <p:nvSpPr>
          <p:cNvPr id="10" name="Shape 7"/>
          <p:cNvSpPr/>
          <p:nvPr/>
        </p:nvSpPr>
        <p:spPr>
          <a:xfrm>
            <a:off x="5629275" y="1914525"/>
            <a:ext cx="35719" cy="964406"/>
          </a:xfrm>
          <a:prstGeom prst="rect">
            <a:avLst/>
          </a:prstGeom>
          <a:solidFill>
            <a:srgbClr val="00F5FF"/>
          </a:solidFill>
          <a:ln/>
        </p:spPr>
      </p:sp>
      <p:sp>
        <p:nvSpPr>
          <p:cNvPr id="11" name="Text 8"/>
          <p:cNvSpPr/>
          <p:nvPr/>
        </p:nvSpPr>
        <p:spPr>
          <a:xfrm>
            <a:off x="5629275" y="1914525"/>
            <a:ext cx="2800350" cy="964406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C678D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const</a:t>
            </a:r>
            <a:r>
              <a:rPr lang="en-US" sz="7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escola = </a:t>
            </a:r>
            <a:r>
              <a:rPr lang="en-US" sz="750" dirty="0">
                <a:solidFill>
                  <a:srgbClr val="C678D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new</a:t>
            </a:r>
            <a:r>
              <a:rPr lang="en-US" sz="7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750" dirty="0">
                <a:solidFill>
                  <a:srgbClr val="E5C07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Escola</a:t>
            </a:r>
            <a:r>
              <a:rPr lang="en-US" sz="7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</a:t>
            </a:r>
            <a:r>
              <a:rPr lang="en-US" sz="750" dirty="0">
                <a:solidFill>
                  <a:srgbClr val="98C37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"Manus Tech"</a:t>
            </a:r>
            <a:r>
              <a:rPr lang="en-US" sz="7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);</a:t>
            </a:r>
            <a:r>
              <a:rPr lang="en-US" sz="7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750" dirty="0">
                <a:solidFill>
                  <a:srgbClr val="C678D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const</a:t>
            </a:r>
            <a:r>
              <a:rPr lang="en-US" sz="7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a1 = </a:t>
            </a:r>
            <a:r>
              <a:rPr lang="en-US" sz="750" dirty="0">
                <a:solidFill>
                  <a:srgbClr val="C678D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new</a:t>
            </a:r>
            <a:r>
              <a:rPr lang="en-US" sz="7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750" dirty="0">
                <a:solidFill>
                  <a:srgbClr val="E5C07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Aluno</a:t>
            </a:r>
            <a:r>
              <a:rPr lang="en-US" sz="7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</a:t>
            </a:r>
            <a:r>
              <a:rPr lang="en-US" sz="750" dirty="0">
                <a:solidFill>
                  <a:srgbClr val="98C37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"Ana"</a:t>
            </a:r>
            <a:r>
              <a:rPr lang="en-US" sz="7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, </a:t>
            </a:r>
            <a:r>
              <a:rPr lang="en-US" sz="750" dirty="0">
                <a:solidFill>
                  <a:srgbClr val="98C37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"ana@dev.com"</a:t>
            </a:r>
            <a:r>
              <a:rPr lang="en-US" sz="7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);</a:t>
            </a:r>
            <a:r>
              <a:rPr lang="en-US" sz="7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7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escola.</a:t>
            </a:r>
            <a:r>
              <a:rPr lang="en-US" sz="750" dirty="0">
                <a:solidFill>
                  <a:srgbClr val="61AFE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matricularAluno</a:t>
            </a:r>
            <a:r>
              <a:rPr lang="en-US" sz="7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(a1);</a:t>
            </a:r>
            <a:r>
              <a:rPr lang="en-US" sz="7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7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escola.</a:t>
            </a:r>
            <a:r>
              <a:rPr lang="en-US" sz="750" dirty="0">
                <a:solidFill>
                  <a:srgbClr val="61AFE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listarAlunos</a:t>
            </a:r>
            <a:r>
              <a:rPr lang="en-US" sz="750" dirty="0">
                <a:solidFill>
                  <a:srgbClr val="D1D1D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();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5486400" y="3164681"/>
            <a:ext cx="3086100" cy="1471613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00F5FF">
                <a:alpha val="2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29275" y="3307556"/>
            <a:ext cx="280035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F5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SAÍDA NO CONSOLE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629275" y="3607594"/>
            <a:ext cx="2800350" cy="625078"/>
          </a:xfrm>
          <a:prstGeom prst="rect">
            <a:avLst/>
          </a:prstGeom>
          <a:solidFill>
            <a:srgbClr val="000000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29275" y="3607594"/>
            <a:ext cx="2800350" cy="62507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FF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&gt; Aluno matriculado com sucesso!</a:t>
            </a:r>
            <a:r>
              <a:rPr lang="en-US" sz="750" dirty="0">
                <a:solidFill>
                  <a:srgbClr val="00FF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750" dirty="0">
                <a:solidFill>
                  <a:srgbClr val="00FF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&gt; Nome: Ana, E-mail: ana@dev.com | Média: </a:t>
            </a:r>
            <a:r>
              <a:rPr lang="en-US" sz="750" dirty="0">
                <a:solidFill>
                  <a:srgbClr val="00FF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0.00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629275" y="4289822"/>
            <a:ext cx="1189434" cy="175022"/>
          </a:xfrm>
          <a:prstGeom prst="rect">
            <a:avLst/>
          </a:prstGeom>
          <a:solidFill>
            <a:srgbClr val="00F5FF"/>
          </a:solidFill>
          <a:ln/>
        </p:spPr>
      </p:sp>
      <p:sp>
        <p:nvSpPr>
          <p:cNvPr id="17" name="Text 14"/>
          <p:cNvSpPr/>
          <p:nvPr/>
        </p:nvSpPr>
        <p:spPr>
          <a:xfrm>
            <a:off x="5629275" y="4289822"/>
            <a:ext cx="1189434" cy="175022"/>
          </a:xfrm>
          <a:prstGeom prst="rect">
            <a:avLst/>
          </a:prstGeom>
          <a:noFill/>
          <a:ln/>
        </p:spPr>
        <p:txBody>
          <a:bodyPr wrap="none" lIns="85090" tIns="42545" rIns="8509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1A0B2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SISTEMA OPERACIONAL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642938"/>
            <a:ext cx="8429625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0F5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CONCLUSÃO E PRÓXIMOS PASSOS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714375" y="1553766"/>
            <a:ext cx="3571875" cy="360759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Os 4 Pilares da POO</a:t>
            </a:r>
            <a:endParaRPr lang="en-US" sz="16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2148483"/>
            <a:ext cx="285750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43000" y="2128838"/>
            <a:ext cx="867966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Abstração</a:t>
            </a:r>
            <a:endParaRPr lang="en-US" sz="1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2502098"/>
            <a:ext cx="285750" cy="1714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143000" y="2482453"/>
            <a:ext cx="1403747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Encapsulamento</a:t>
            </a:r>
            <a:endParaRPr lang="en-US" sz="12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2855714"/>
            <a:ext cx="285750" cy="17145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143000" y="2836069"/>
            <a:ext cx="707231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Herança</a:t>
            </a:r>
            <a:endParaRPr lang="en-US" sz="12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3209330"/>
            <a:ext cx="285750" cy="17145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143000" y="3189684"/>
            <a:ext cx="1114425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Polimorfismo</a:t>
            </a:r>
            <a:endParaRPr lang="en-US" sz="1200" dirty="0"/>
          </a:p>
        </p:txBody>
      </p:sp>
      <p:sp>
        <p:nvSpPr>
          <p:cNvPr id="13" name="Shape 6"/>
          <p:cNvSpPr/>
          <p:nvPr/>
        </p:nvSpPr>
        <p:spPr>
          <a:xfrm>
            <a:off x="4857750" y="1553766"/>
            <a:ext cx="3571875" cy="2753916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F5FF">
                <a:alpha val="20000"/>
              </a:srgbClr>
            </a:solidFill>
            <a:prstDash val="solid"/>
          </a:ln>
        </p:spPr>
      </p:sp>
      <p:sp>
        <p:nvSpPr>
          <p:cNvPr id="14" name="Text 7"/>
          <p:cNvSpPr/>
          <p:nvPr/>
        </p:nvSpPr>
        <p:spPr>
          <a:xfrm>
            <a:off x="5143500" y="1846659"/>
            <a:ext cx="3000375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F5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Desafios para Praticar</a:t>
            </a:r>
            <a:endParaRPr lang="en-US" sz="16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3500" y="2300288"/>
            <a:ext cx="178594" cy="178594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429250" y="2300288"/>
            <a:ext cx="2714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Refatore um código procedural antigo usando classes e métodos.</a:t>
            </a:r>
            <a:endParaRPr lang="en-US" sz="105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3500" y="2871788"/>
            <a:ext cx="125016" cy="178594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5375672" y="2871788"/>
            <a:ext cx="276820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Estude os princípios </a:t>
            </a:r>
            <a:r>
              <a:rPr lang="en-US" sz="1000" b="1" dirty="0">
                <a:solidFill>
                  <a:srgbClr val="FFFFFF">
                    <a:alpha val="8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SOLID</a:t>
            </a: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</a:t>
            </a: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escrever códigos mais limpos.</a:t>
            </a:r>
            <a:endParaRPr lang="en-US" sz="1050" dirty="0"/>
          </a:p>
        </p:txBody>
      </p:sp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3500" y="3443288"/>
            <a:ext cx="107156" cy="178594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5357813" y="3443288"/>
            <a:ext cx="278606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Explore </a:t>
            </a:r>
            <a:r>
              <a:rPr lang="en-US" sz="1000" b="1" dirty="0">
                <a:solidFill>
                  <a:srgbClr val="FFFFFF">
                    <a:alpha val="8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Design Patterns</a:t>
            </a: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comuns como </a:t>
            </a: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Singleton e Factory.</a:t>
            </a:r>
            <a:endParaRPr lang="en-US" sz="1050" dirty="0"/>
          </a:p>
        </p:txBody>
      </p:sp>
      <p:sp>
        <p:nvSpPr>
          <p:cNvPr id="21" name="Text 11"/>
          <p:cNvSpPr/>
          <p:nvPr/>
        </p:nvSpPr>
        <p:spPr>
          <a:xfrm>
            <a:off x="0" y="4729163"/>
            <a:ext cx="914400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>
                    <a:alpha val="5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 jornada da programação é contínua. Continue construindo!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2026-08-17T22:27:20Z</dcterms:created>
  <dcterms:modified xsi:type="dcterms:W3CDTF">2026-08-17T22:27:20Z</dcterms:modified>
</cp:coreProperties>
</file>